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0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</p:sldIdLst>
  <p:sldSz cy="5143500" cx="9144000"/>
  <p:notesSz cx="51435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2" Type="http://schemas.openxmlformats.org/officeDocument/2006/relationships/slide" Target="slides/slide8.xml"/><Relationship Id="rId9" Type="http://schemas.openxmlformats.org/officeDocument/2006/relationships/slide" Target="slides/slide5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g3f682816b57_0_37:notes"/>
          <p:cNvSpPr txBox="1"/>
          <p:nvPr>
            <p:ph idx="2" type="hdr"/>
          </p:nvPr>
        </p:nvSpPr>
        <p:spPr>
          <a:xfrm>
            <a:off x="0" y="0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g3f682816b57_0_37:notes"/>
          <p:cNvSpPr txBox="1"/>
          <p:nvPr>
            <p:ph idx="10" type="dt"/>
          </p:nvPr>
        </p:nvSpPr>
        <p:spPr>
          <a:xfrm>
            <a:off x="3884613" y="0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" name="Google Shape;15;g3f682816b57_0_37:notes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" name="Google Shape;16;g3f682816b57_0_3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g3f682816b57_0_37:notes"/>
          <p:cNvSpPr txBox="1"/>
          <p:nvPr>
            <p:ph idx="11" type="ftr"/>
          </p:nvPr>
        </p:nvSpPr>
        <p:spPr>
          <a:xfrm>
            <a:off x="0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" name="Google Shape;18;g3f682816b57_0_3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5" name="Google Shape;45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Welcome to the DermoAI pitch. DermoAI is an Android app that runs skin analysis on-device: private, instant, and offline. The aperture motif echoes the camera scan experience.</a:t>
            </a:r>
            <a:endParaRPr/>
          </a:p>
        </p:txBody>
      </p:sp>
      <p:sp>
        <p:nvSpPr>
          <p:cNvPr id="46" name="Google Shape;46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2" name="Google Shape;62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Why DermoAI: skin concerns are common but expert access is slow and generic web advice is risky. DermoAI puts an on-device AI skin model, safety-first guidance, a local dermatologist finder, and progress tracking into one app.</a:t>
            </a:r>
            <a:endParaRPr/>
          </a:p>
        </p:txBody>
      </p:sp>
      <p:sp>
        <p:nvSpPr>
          <p:cNvPr id="63" name="Google Shape;63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5" name="Google Shape;95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Feature 1 — the core loop: capture a spot, analyze on-device, get a severity tier with a confidence score and plain-language guidance, always with a clear path to professional care.</a:t>
            </a:r>
            <a:endParaRPr/>
          </a:p>
        </p:txBody>
      </p:sp>
      <p:sp>
        <p:nvSpPr>
          <p:cNvPr id="96" name="Google Shape;96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2" name="Google Shape;132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Feature 3 — the dermatologist finder. OpenStreetMap-based, no account needed. Tap a clinic to call or get directions. When a scan is flagged, a consult CTA appears directly on the result.</a:t>
            </a:r>
            <a:endParaRPr/>
          </a:p>
        </p:txBody>
      </p:sp>
      <p:sp>
        <p:nvSpPr>
          <p:cNvPr id="133" name="Google Shape;133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0" name="Google Shape;180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Feature 4 — tracking. Timeline of every scan with photos and dates, step-by-step treatment plans with streak counters, analytics across scans, and one-tap shareable PDF reports.</a:t>
            </a:r>
            <a:endParaRPr/>
          </a:p>
        </p:txBody>
      </p:sp>
      <p:sp>
        <p:nvSpPr>
          <p:cNvPr id="181" name="Google Shape;181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2" name="Google Shape;212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Feature 6 — knowledge base. 60 plain-language articles across 9 topics, with instant search. Sample Q&amp;A: the ABCDE rule for moles, which DermoAI checks on scans.</a:t>
            </a:r>
            <a:endParaRPr/>
          </a:p>
        </p:txBody>
      </p:sp>
      <p:sp>
        <p:nvSpPr>
          <p:cNvPr id="213" name="Google Shape;213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6" name="Google Shape;246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Close. DermoAI — your skin, understood. Screening aid, not a medical device; always consult a professional for a diagnosis.</a:t>
            </a:r>
            <a:endParaRPr/>
          </a:p>
        </p:txBody>
      </p:sp>
      <p:sp>
        <p:nvSpPr>
          <p:cNvPr id="247" name="Google Shape;247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(g3f682816b57_11_0)">
  <p:cSld name="Generated (g3f682816b57_11_0)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</p:sldLayoutIdLst>
  <p:transition spd="med">
    <p:fade thruBlk="1"/>
  </p:transition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0.png"/><Relationship Id="rId4" Type="http://schemas.openxmlformats.org/officeDocument/2006/relationships/image" Target="../media/image5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Relationship Id="rId4" Type="http://schemas.openxmlformats.org/officeDocument/2006/relationships/image" Target="../media/image2.png"/><Relationship Id="rId5" Type="http://schemas.openxmlformats.org/officeDocument/2006/relationships/image" Target="../media/image8.png"/><Relationship Id="rId6" Type="http://schemas.openxmlformats.org/officeDocument/2006/relationships/image" Target="../media/image7.png"/><Relationship Id="rId7" Type="http://schemas.openxmlformats.org/officeDocument/2006/relationships/image" Target="../media/image1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9.png"/><Relationship Id="rId4" Type="http://schemas.openxmlformats.org/officeDocument/2006/relationships/image" Target="../media/image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4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4EFE7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" name="Google Shape;21;p4"/>
          <p:cNvSpPr txBox="1"/>
          <p:nvPr/>
        </p:nvSpPr>
        <p:spPr>
          <a:xfrm>
            <a:off x="502920" y="365760"/>
            <a:ext cx="81381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450"/>
              </a:spcAft>
              <a:buNone/>
            </a:pPr>
            <a:r>
              <a:rPr b="1" lang="en-US" sz="1100">
                <a:solidFill>
                  <a:srgbClr val="1E6E5C"/>
                </a:solidFill>
                <a:latin typeface="Calibri"/>
                <a:ea typeface="Calibri"/>
                <a:cs typeface="Calibri"/>
                <a:sym typeface="Calibri"/>
              </a:rPr>
              <a:t>THE SKIN CHALLENGE</a:t>
            </a:r>
            <a:endParaRPr b="1" sz="1100">
              <a:solidFill>
                <a:srgbClr val="1E6E5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4"/>
          <p:cNvSpPr txBox="1"/>
          <p:nvPr/>
        </p:nvSpPr>
        <p:spPr>
          <a:xfrm>
            <a:off x="502920" y="603504"/>
            <a:ext cx="74982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450"/>
              </a:spcAft>
              <a:buNone/>
            </a:pPr>
            <a:r>
              <a:rPr b="1" lang="en-US" sz="2498">
                <a:solidFill>
                  <a:srgbClr val="202B26"/>
                </a:solidFill>
                <a:latin typeface="Cambria"/>
                <a:ea typeface="Cambria"/>
                <a:cs typeface="Cambria"/>
                <a:sym typeface="Cambria"/>
              </a:rPr>
              <a:t>From urban pollutants to complex skin conditions</a:t>
            </a:r>
            <a:endParaRPr b="1" sz="2498">
              <a:solidFill>
                <a:srgbClr val="202B26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23" name="Google Shape;23;p4"/>
          <p:cNvSpPr txBox="1"/>
          <p:nvPr/>
        </p:nvSpPr>
        <p:spPr>
          <a:xfrm>
            <a:off x="8549640" y="411480"/>
            <a:ext cx="4116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450"/>
              </a:spcAft>
              <a:buNone/>
            </a:pPr>
            <a:r>
              <a:rPr b="1" lang="en-US" sz="1100">
                <a:solidFill>
                  <a:srgbClr val="55645C"/>
                </a:solidFill>
                <a:latin typeface="Calibri"/>
                <a:ea typeface="Calibri"/>
                <a:cs typeface="Calibri"/>
                <a:sym typeface="Calibri"/>
              </a:rPr>
              <a:t>02</a:t>
            </a:r>
            <a:endParaRPr b="1" sz="1100">
              <a:solidFill>
                <a:srgbClr val="55645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4" name="Google Shape;24;p4"/>
          <p:cNvGrpSpPr/>
          <p:nvPr/>
        </p:nvGrpSpPr>
        <p:grpSpPr>
          <a:xfrm>
            <a:off x="502920" y="1325880"/>
            <a:ext cx="3977700" cy="3246000"/>
            <a:chOff x="502920" y="1325880"/>
            <a:chExt cx="3977700" cy="3246000"/>
          </a:xfrm>
        </p:grpSpPr>
        <p:sp>
          <p:nvSpPr>
            <p:cNvPr id="25" name="Google Shape;25;p4"/>
            <p:cNvSpPr/>
            <p:nvPr/>
          </p:nvSpPr>
          <p:spPr>
            <a:xfrm>
              <a:off x="502920" y="1325880"/>
              <a:ext cx="3977700" cy="3246000"/>
            </a:xfrm>
            <a:prstGeom prst="roundRect">
              <a:avLst>
                <a:gd fmla="val 3374" name="adj"/>
              </a:avLst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" name="Google Shape;26;p4"/>
            <p:cNvSpPr/>
            <p:nvPr/>
          </p:nvSpPr>
          <p:spPr>
            <a:xfrm>
              <a:off x="777240" y="1600200"/>
              <a:ext cx="384000" cy="384000"/>
            </a:xfrm>
            <a:prstGeom prst="ellipse">
              <a:avLst/>
            </a:prstGeom>
            <a:solidFill>
              <a:srgbClr val="E0704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" name="Google Shape;27;p4"/>
            <p:cNvSpPr txBox="1"/>
            <p:nvPr/>
          </p:nvSpPr>
          <p:spPr>
            <a:xfrm>
              <a:off x="1298448" y="1627632"/>
              <a:ext cx="3017400" cy="365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450"/>
                </a:spcAft>
                <a:buNone/>
              </a:pPr>
              <a:r>
                <a:rPr b="1" lang="en-US" sz="1700">
                  <a:solidFill>
                    <a:srgbClr val="202B26"/>
                  </a:solidFill>
                  <a:latin typeface="Cambria"/>
                  <a:ea typeface="Cambria"/>
                  <a:cs typeface="Cambria"/>
                  <a:sym typeface="Cambria"/>
                </a:rPr>
                <a:t>The Reality</a:t>
              </a:r>
              <a:endParaRPr b="1" sz="1700">
                <a:solidFill>
                  <a:srgbClr val="202B26"/>
                </a:solidFill>
                <a:latin typeface="Cambria"/>
                <a:ea typeface="Cambria"/>
                <a:cs typeface="Cambria"/>
                <a:sym typeface="Cambria"/>
              </a:endParaRPr>
            </a:p>
          </p:txBody>
        </p:sp>
        <p:sp>
          <p:nvSpPr>
            <p:cNvPr id="28" name="Google Shape;28;p4"/>
            <p:cNvSpPr txBox="1"/>
            <p:nvPr/>
          </p:nvSpPr>
          <p:spPr>
            <a:xfrm>
              <a:off x="777240" y="2212848"/>
              <a:ext cx="3429000" cy="666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400">
                  <a:solidFill>
                    <a:srgbClr val="E0704F"/>
                  </a:solidFill>
                  <a:latin typeface="Cambria"/>
                  <a:ea typeface="Cambria"/>
                  <a:cs typeface="Cambria"/>
                  <a:sym typeface="Cambria"/>
                </a:rPr>
                <a:t>Pollution &amp; Blackheads</a:t>
              </a:r>
              <a:endParaRPr b="1" sz="1400">
                <a:solidFill>
                  <a:srgbClr val="E0704F"/>
                </a:solidFill>
                <a:latin typeface="Cambria"/>
                <a:ea typeface="Cambria"/>
                <a:cs typeface="Cambria"/>
                <a:sym typeface="Cambria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450"/>
                </a:spcAft>
                <a:buNone/>
              </a:pPr>
              <a:r>
                <a:rPr b="0" lang="en-US" sz="1100">
                  <a:solidFill>
                    <a:srgbClr val="55645C"/>
                  </a:solidFill>
                  <a:latin typeface="Calibri"/>
                  <a:ea typeface="Calibri"/>
                  <a:cs typeface="Calibri"/>
                  <a:sym typeface="Calibri"/>
                </a:rPr>
                <a:t>Smog and micro-particles clog pores daily, resulting in stubborn blackheads and localized inflammation.</a:t>
              </a:r>
              <a:endParaRPr b="0" sz="1100">
                <a:solidFill>
                  <a:srgbClr val="55645C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" name="Google Shape;29;p4"/>
            <p:cNvSpPr txBox="1"/>
            <p:nvPr/>
          </p:nvSpPr>
          <p:spPr>
            <a:xfrm>
              <a:off x="777240" y="2974848"/>
              <a:ext cx="3429000" cy="666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400">
                  <a:solidFill>
                    <a:srgbClr val="E0704F"/>
                  </a:solidFill>
                  <a:latin typeface="Cambria"/>
                  <a:ea typeface="Cambria"/>
                  <a:cs typeface="Cambria"/>
                  <a:sym typeface="Cambria"/>
                </a:rPr>
                <a:t>Common Skin Diseases</a:t>
              </a:r>
              <a:endParaRPr b="1" sz="1400">
                <a:solidFill>
                  <a:srgbClr val="E0704F"/>
                </a:solidFill>
                <a:latin typeface="Cambria"/>
                <a:ea typeface="Cambria"/>
                <a:cs typeface="Cambria"/>
                <a:sym typeface="Cambria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450"/>
                </a:spcAft>
                <a:buNone/>
              </a:pPr>
              <a:r>
                <a:rPr b="0" lang="en-US" sz="1100">
                  <a:solidFill>
                    <a:srgbClr val="55645C"/>
                  </a:solidFill>
                  <a:latin typeface="Calibri"/>
                  <a:ea typeface="Calibri"/>
                  <a:cs typeface="Calibri"/>
                  <a:sym typeface="Calibri"/>
                </a:rPr>
                <a:t>From acute acne flare-ups to chronic eczema and psoriasis, identifying the root issue is often a long process.</a:t>
              </a:r>
              <a:endParaRPr b="0" sz="1100">
                <a:solidFill>
                  <a:srgbClr val="55645C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" name="Google Shape;30;p4"/>
            <p:cNvSpPr txBox="1"/>
            <p:nvPr/>
          </p:nvSpPr>
          <p:spPr>
            <a:xfrm>
              <a:off x="777240" y="3736848"/>
              <a:ext cx="3429000" cy="666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400">
                  <a:solidFill>
                    <a:srgbClr val="E0704F"/>
                  </a:solidFill>
                  <a:latin typeface="Cambria"/>
                  <a:ea typeface="Cambria"/>
                  <a:cs typeface="Cambria"/>
                  <a:sym typeface="Cambria"/>
                </a:rPr>
                <a:t>Self-Diagnosis Trap</a:t>
              </a:r>
              <a:endParaRPr b="1" sz="1400">
                <a:solidFill>
                  <a:srgbClr val="E0704F"/>
                </a:solidFill>
                <a:latin typeface="Cambria"/>
                <a:ea typeface="Cambria"/>
                <a:cs typeface="Cambria"/>
                <a:sym typeface="Cambria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450"/>
                </a:spcAft>
                <a:buNone/>
              </a:pPr>
              <a:r>
                <a:rPr b="0" lang="en-US" sz="1100">
                  <a:solidFill>
                    <a:srgbClr val="55645C"/>
                  </a:solidFill>
                  <a:latin typeface="Calibri"/>
                  <a:ea typeface="Calibri"/>
                  <a:cs typeface="Calibri"/>
                  <a:sym typeface="Calibri"/>
                </a:rPr>
                <a:t>Searching symptoms online leads to panic and generic remedies that can actively worsen your skin's health.</a:t>
              </a:r>
              <a:endParaRPr b="0" sz="1100">
                <a:solidFill>
                  <a:srgbClr val="55645C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1" name="Google Shape;31;p4"/>
          <p:cNvGrpSpPr/>
          <p:nvPr/>
        </p:nvGrpSpPr>
        <p:grpSpPr>
          <a:xfrm>
            <a:off x="4663440" y="1325880"/>
            <a:ext cx="3977700" cy="3246000"/>
            <a:chOff x="4663440" y="1325880"/>
            <a:chExt cx="3977700" cy="3246000"/>
          </a:xfrm>
        </p:grpSpPr>
        <p:sp>
          <p:nvSpPr>
            <p:cNvPr id="32" name="Google Shape;32;p4"/>
            <p:cNvSpPr/>
            <p:nvPr/>
          </p:nvSpPr>
          <p:spPr>
            <a:xfrm>
              <a:off x="4663440" y="1325880"/>
              <a:ext cx="3977700" cy="3246000"/>
            </a:xfrm>
            <a:prstGeom prst="roundRect">
              <a:avLst>
                <a:gd fmla="val 3374" name="adj"/>
              </a:avLst>
            </a:prstGeom>
            <a:solidFill>
              <a:srgbClr val="D9EDE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" name="Google Shape;33;p4"/>
            <p:cNvSpPr/>
            <p:nvPr/>
          </p:nvSpPr>
          <p:spPr>
            <a:xfrm>
              <a:off x="4937760" y="1600200"/>
              <a:ext cx="384000" cy="384000"/>
            </a:xfrm>
            <a:prstGeom prst="ellipse">
              <a:avLst/>
            </a:prstGeom>
            <a:solidFill>
              <a:srgbClr val="1E6E5C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" name="Google Shape;34;p4"/>
            <p:cNvSpPr txBox="1"/>
            <p:nvPr/>
          </p:nvSpPr>
          <p:spPr>
            <a:xfrm>
              <a:off x="5458968" y="1627632"/>
              <a:ext cx="3017400" cy="365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450"/>
                </a:spcAft>
                <a:buNone/>
              </a:pPr>
              <a:r>
                <a:rPr b="1" lang="en-US" sz="1700">
                  <a:solidFill>
                    <a:srgbClr val="202B26"/>
                  </a:solidFill>
                  <a:latin typeface="Cambria"/>
                  <a:ea typeface="Cambria"/>
                  <a:cs typeface="Cambria"/>
                  <a:sym typeface="Cambria"/>
                </a:rPr>
                <a:t>The Smart Solution</a:t>
              </a:r>
              <a:endParaRPr b="1" sz="1700">
                <a:solidFill>
                  <a:srgbClr val="202B26"/>
                </a:solidFill>
                <a:latin typeface="Cambria"/>
                <a:ea typeface="Cambria"/>
                <a:cs typeface="Cambria"/>
                <a:sym typeface="Cambria"/>
              </a:endParaRPr>
            </a:p>
          </p:txBody>
        </p:sp>
        <p:sp>
          <p:nvSpPr>
            <p:cNvPr id="35" name="Google Shape;35;p4"/>
            <p:cNvSpPr txBox="1"/>
            <p:nvPr/>
          </p:nvSpPr>
          <p:spPr>
            <a:xfrm>
              <a:off x="4937760" y="2121408"/>
              <a:ext cx="3474600" cy="914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450"/>
                </a:spcAft>
                <a:buNone/>
              </a:pPr>
              <a:r>
                <a:rPr b="0" lang="en-US" sz="1200">
                  <a:solidFill>
                    <a:srgbClr val="202B26"/>
                  </a:solidFill>
                  <a:latin typeface="Calibri"/>
                  <a:ea typeface="Calibri"/>
                  <a:cs typeface="Calibri"/>
                  <a:sym typeface="Calibri"/>
                </a:rPr>
                <a:t>Instead of guessing, use DermoAI to understand your skin instantly. Run advanced model analysis entirely on-device to get immediate clarity and guided next steps.</a:t>
              </a:r>
              <a:endParaRPr b="0" sz="1200">
                <a:solidFill>
                  <a:srgbClr val="202B26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" name="Google Shape;36;p4"/>
            <p:cNvSpPr/>
            <p:nvPr/>
          </p:nvSpPr>
          <p:spPr>
            <a:xfrm>
              <a:off x="4937760" y="3081528"/>
              <a:ext cx="118800" cy="118800"/>
            </a:xfrm>
            <a:prstGeom prst="ellipse">
              <a:avLst/>
            </a:prstGeom>
            <a:solidFill>
              <a:srgbClr val="1E6E5C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" name="Google Shape;37;p4"/>
            <p:cNvSpPr txBox="1"/>
            <p:nvPr/>
          </p:nvSpPr>
          <p:spPr>
            <a:xfrm>
              <a:off x="5175504" y="2999232"/>
              <a:ext cx="3291900" cy="274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450"/>
                </a:spcAft>
                <a:buNone/>
              </a:pPr>
              <a:r>
                <a:rPr b="0" lang="en-US" sz="1150">
                  <a:solidFill>
                    <a:srgbClr val="202B26"/>
                  </a:solidFill>
                  <a:latin typeface="Calibri"/>
                  <a:ea typeface="Calibri"/>
                  <a:cs typeface="Calibri"/>
                  <a:sym typeface="Calibri"/>
                </a:rPr>
                <a:t>Scan blackheads, acne, or spots instantly</a:t>
              </a:r>
              <a:endParaRPr b="0" sz="1150">
                <a:solidFill>
                  <a:srgbClr val="202B26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" name="Google Shape;38;p4"/>
            <p:cNvSpPr/>
            <p:nvPr/>
          </p:nvSpPr>
          <p:spPr>
            <a:xfrm>
              <a:off x="4937760" y="3465576"/>
              <a:ext cx="118800" cy="118800"/>
            </a:xfrm>
            <a:prstGeom prst="ellipse">
              <a:avLst/>
            </a:prstGeom>
            <a:solidFill>
              <a:srgbClr val="1E6E5C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" name="Google Shape;39;p4"/>
            <p:cNvSpPr txBox="1"/>
            <p:nvPr/>
          </p:nvSpPr>
          <p:spPr>
            <a:xfrm>
              <a:off x="5175504" y="3383280"/>
              <a:ext cx="3291900" cy="274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450"/>
                </a:spcAft>
                <a:buNone/>
              </a:pPr>
              <a:r>
                <a:rPr b="0" lang="en-US" sz="1150">
                  <a:solidFill>
                    <a:srgbClr val="202B26"/>
                  </a:solidFill>
                  <a:latin typeface="Calibri"/>
                  <a:ea typeface="Calibri"/>
                  <a:cs typeface="Calibri"/>
                  <a:sym typeface="Calibri"/>
                </a:rPr>
                <a:t>Get clear, plain-language explanations</a:t>
              </a:r>
              <a:endParaRPr b="0" sz="1150">
                <a:solidFill>
                  <a:srgbClr val="202B26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" name="Google Shape;40;p4"/>
            <p:cNvSpPr/>
            <p:nvPr/>
          </p:nvSpPr>
          <p:spPr>
            <a:xfrm>
              <a:off x="4892040" y="3810000"/>
              <a:ext cx="3520500" cy="476400"/>
            </a:xfrm>
            <a:prstGeom prst="roundRect">
              <a:avLst>
                <a:gd fmla="val 50000" name="adj"/>
              </a:avLst>
            </a:prstGeom>
            <a:solidFill>
              <a:srgbClr val="F7E2D8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" name="Google Shape;41;p4"/>
            <p:cNvSpPr txBox="1"/>
            <p:nvPr/>
          </p:nvSpPr>
          <p:spPr>
            <a:xfrm>
              <a:off x="4892040" y="3943350"/>
              <a:ext cx="35205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450"/>
                </a:spcAft>
                <a:buNone/>
              </a:pPr>
              <a:r>
                <a:rPr b="1" lang="en-US" sz="1100">
                  <a:solidFill>
                    <a:srgbClr val="A64B2C"/>
                  </a:solidFill>
                  <a:latin typeface="Calibri"/>
                  <a:ea typeface="Calibri"/>
                  <a:cs typeface="Calibri"/>
                  <a:sym typeface="Calibri"/>
                </a:rPr>
                <a:t>Scan &amp; Protect Your Skin with DermoAI</a:t>
              </a:r>
              <a:endParaRPr b="1" sz="1100">
                <a:solidFill>
                  <a:srgbClr val="A64B2C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2" name="Google Shape;42;p4"/>
          <p:cNvSpPr txBox="1"/>
          <p:nvPr/>
        </p:nvSpPr>
        <p:spPr>
          <a:xfrm>
            <a:off x="1371600" y="4690872"/>
            <a:ext cx="64008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450"/>
              </a:spcAft>
              <a:buNone/>
            </a:pPr>
            <a:r>
              <a:rPr b="0" i="1" lang="en-US" sz="1050">
                <a:solidFill>
                  <a:srgbClr val="55645C"/>
                </a:solidFill>
                <a:latin typeface="Calibri"/>
                <a:ea typeface="Calibri"/>
                <a:cs typeface="Calibri"/>
                <a:sym typeface="Calibri"/>
              </a:rPr>
              <a:t>A screening aid for better awareness, helping you take timely and correct actions.</a:t>
            </a:r>
            <a:endParaRPr b="0" i="1" sz="1050">
              <a:solidFill>
                <a:srgbClr val="55645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2500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5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23F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" name="Google Shape;49;p5"/>
          <p:cNvSpPr/>
          <p:nvPr/>
        </p:nvSpPr>
        <p:spPr>
          <a:xfrm>
            <a:off x="5440680" y="1143000"/>
            <a:ext cx="3017520" cy="3017520"/>
          </a:xfrm>
          <a:prstGeom prst="ellipse">
            <a:avLst/>
          </a:prstGeom>
          <a:solidFill>
            <a:srgbClr val="FFFFFF">
              <a:alpha val="0"/>
            </a:srgbClr>
          </a:solidFill>
          <a:ln cap="flat" cmpd="sng" w="19050">
            <a:solidFill>
              <a:srgbClr val="274F4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" name="Google Shape;50;p5"/>
          <p:cNvSpPr/>
          <p:nvPr/>
        </p:nvSpPr>
        <p:spPr>
          <a:xfrm>
            <a:off x="5897880" y="1600200"/>
            <a:ext cx="2103120" cy="2103120"/>
          </a:xfrm>
          <a:prstGeom prst="ellipse">
            <a:avLst/>
          </a:prstGeom>
          <a:solidFill>
            <a:srgbClr val="FFFFFF">
              <a:alpha val="0"/>
            </a:srgbClr>
          </a:solidFill>
          <a:ln cap="flat" cmpd="sng" w="15875">
            <a:solidFill>
              <a:srgbClr val="2F5B4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" name="Google Shape;51;p5"/>
          <p:cNvSpPr/>
          <p:nvPr/>
        </p:nvSpPr>
        <p:spPr>
          <a:xfrm>
            <a:off x="6309360" y="2011680"/>
            <a:ext cx="1280160" cy="1280160"/>
          </a:xfrm>
          <a:prstGeom prst="ellipse">
            <a:avLst/>
          </a:prstGeom>
          <a:solidFill>
            <a:srgbClr val="FFFFFF">
              <a:alpha val="0"/>
            </a:srgbClr>
          </a:solidFill>
          <a:ln cap="flat" cmpd="sng" w="15875">
            <a:solidFill>
              <a:srgbClr val="C8DBD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5"/>
          <p:cNvSpPr/>
          <p:nvPr/>
        </p:nvSpPr>
        <p:spPr>
          <a:xfrm>
            <a:off x="6775704" y="2478024"/>
            <a:ext cx="347472" cy="347472"/>
          </a:xfrm>
          <a:prstGeom prst="ellipse">
            <a:avLst/>
          </a:prstGeom>
          <a:solidFill>
            <a:srgbClr val="C8DBD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5"/>
          <p:cNvSpPr/>
          <p:nvPr/>
        </p:nvSpPr>
        <p:spPr>
          <a:xfrm>
            <a:off x="6858000" y="2560320"/>
            <a:ext cx="182880" cy="182880"/>
          </a:xfrm>
          <a:prstGeom prst="ellipse">
            <a:avLst/>
          </a:prstGeom>
          <a:solidFill>
            <a:srgbClr val="1E6E5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p5"/>
          <p:cNvSpPr/>
          <p:nvPr/>
        </p:nvSpPr>
        <p:spPr>
          <a:xfrm>
            <a:off x="502920" y="457200"/>
            <a:ext cx="3017520" cy="329184"/>
          </a:xfrm>
          <a:prstGeom prst="roundRect">
            <a:avLst>
              <a:gd fmla="val 50000" name="adj"/>
            </a:avLst>
          </a:prstGeom>
          <a:solidFill>
            <a:srgbClr val="FFFFFF">
              <a:alpha val="0"/>
            </a:srgbClr>
          </a:solidFill>
          <a:ln cap="flat" cmpd="sng" w="13950">
            <a:solidFill>
              <a:srgbClr val="3E6B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5"/>
          <p:cNvSpPr/>
          <p:nvPr/>
        </p:nvSpPr>
        <p:spPr>
          <a:xfrm>
            <a:off x="502920" y="566908"/>
            <a:ext cx="30174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8DBD2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C8DBD2"/>
                </a:solidFill>
                <a:latin typeface="Calibri"/>
                <a:ea typeface="Calibri"/>
                <a:cs typeface="Calibri"/>
                <a:sym typeface="Calibri"/>
              </a:rPr>
              <a:t>ANDROID · KOTLIN · ON-DEVICE AI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5"/>
          <p:cNvSpPr/>
          <p:nvPr/>
        </p:nvSpPr>
        <p:spPr>
          <a:xfrm>
            <a:off x="502920" y="1691640"/>
            <a:ext cx="594360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EFE7"/>
              </a:buClr>
              <a:buSzPts val="5800"/>
              <a:buFont typeface="Cambria"/>
              <a:buNone/>
            </a:pPr>
            <a:r>
              <a:rPr b="1" i="0" lang="en-US" sz="5800" u="none" cap="none" strike="noStrike">
                <a:solidFill>
                  <a:srgbClr val="F4EFE7"/>
                </a:solidFill>
                <a:latin typeface="Cambria"/>
                <a:ea typeface="Cambria"/>
                <a:cs typeface="Cambria"/>
                <a:sym typeface="Cambria"/>
              </a:rPr>
              <a:t>DermoAI</a:t>
            </a:r>
            <a:endParaRPr b="0" i="0" sz="5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5"/>
          <p:cNvSpPr/>
          <p:nvPr/>
        </p:nvSpPr>
        <p:spPr>
          <a:xfrm>
            <a:off x="502920" y="2743200"/>
            <a:ext cx="5943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DBD2"/>
              </a:buClr>
              <a:buSzPts val="2100"/>
              <a:buFont typeface="Cambria"/>
              <a:buNone/>
            </a:pPr>
            <a:r>
              <a:rPr b="0" i="1" lang="en-US" sz="2100" u="none" cap="none" strike="noStrike">
                <a:solidFill>
                  <a:srgbClr val="C8DBD2"/>
                </a:solidFill>
                <a:latin typeface="Cambria"/>
                <a:ea typeface="Cambria"/>
                <a:cs typeface="Cambria"/>
                <a:sym typeface="Cambria"/>
              </a:rPr>
              <a:t>Your skin, understood.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5"/>
          <p:cNvSpPr/>
          <p:nvPr/>
        </p:nvSpPr>
        <p:spPr>
          <a:xfrm>
            <a:off x="502920" y="3401568"/>
            <a:ext cx="576072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B8AF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A8B8AF"/>
                </a:solidFill>
                <a:latin typeface="Calibri"/>
                <a:ea typeface="Calibri"/>
                <a:cs typeface="Calibri"/>
                <a:sym typeface="Calibri"/>
              </a:rPr>
              <a:t>AI skin analysis, safety-first guidance, and a dermatologist in your pocket — private, instant, and offline.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5"/>
          <p:cNvSpPr/>
          <p:nvPr/>
        </p:nvSpPr>
        <p:spPr>
          <a:xfrm>
            <a:off x="502920" y="4709160"/>
            <a:ext cx="3657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F887E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6F887E"/>
                </a:solidFill>
                <a:latin typeface="Calibri"/>
                <a:ea typeface="Calibri"/>
                <a:cs typeface="Calibri"/>
                <a:sym typeface="Calibri"/>
              </a:rPr>
              <a:t>PITCH DECK · OPEN SOURCE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6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4EFE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6"/>
          <p:cNvSpPr/>
          <p:nvPr/>
        </p:nvSpPr>
        <p:spPr>
          <a:xfrm>
            <a:off x="502920" y="365760"/>
            <a:ext cx="81381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6E5C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E6E5C"/>
                </a:solidFill>
                <a:latin typeface="Calibri"/>
                <a:ea typeface="Calibri"/>
                <a:cs typeface="Calibri"/>
                <a:sym typeface="Calibri"/>
              </a:rPr>
              <a:t>ABOUT · WHY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6"/>
          <p:cNvSpPr/>
          <p:nvPr/>
        </p:nvSpPr>
        <p:spPr>
          <a:xfrm>
            <a:off x="502920" y="603504"/>
            <a:ext cx="74980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02B26"/>
              </a:buClr>
              <a:buSzPts val="2700"/>
              <a:buFont typeface="Cambria"/>
              <a:buNone/>
            </a:pPr>
            <a:r>
              <a:rPr b="1" i="0" lang="en-US" sz="2700" u="none" cap="none" strike="noStrike">
                <a:solidFill>
                  <a:srgbClr val="202B26"/>
                </a:solidFill>
                <a:latin typeface="Cambria"/>
                <a:ea typeface="Cambria"/>
                <a:cs typeface="Cambria"/>
                <a:sym typeface="Cambria"/>
              </a:rPr>
              <a:t>Skin care shouldn’t be guesswork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6"/>
          <p:cNvSpPr/>
          <p:nvPr/>
        </p:nvSpPr>
        <p:spPr>
          <a:xfrm>
            <a:off x="8549640" y="411480"/>
            <a:ext cx="411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5645C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55645C"/>
                </a:solidFill>
                <a:latin typeface="Calibri"/>
                <a:ea typeface="Calibri"/>
                <a:cs typeface="Calibri"/>
                <a:sym typeface="Calibri"/>
              </a:rPr>
              <a:t>02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6"/>
          <p:cNvSpPr/>
          <p:nvPr/>
        </p:nvSpPr>
        <p:spPr>
          <a:xfrm>
            <a:off x="502920" y="1325880"/>
            <a:ext cx="3977640" cy="3246120"/>
          </a:xfrm>
          <a:prstGeom prst="roundRect">
            <a:avLst>
              <a:gd fmla="val 3380" name="adj"/>
            </a:avLst>
          </a:prstGeom>
          <a:solidFill>
            <a:srgbClr val="FFFFFF"/>
          </a:solidFill>
          <a:ln>
            <a:noFill/>
          </a:ln>
          <a:effectLst>
            <a:outerShdw blurRad="127000" rotWithShape="0" algn="bl" dir="5400000" dist="50800">
              <a:srgbClr val="C4BAA8">
                <a:alpha val="3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" name="Google Shape;70;p6"/>
          <p:cNvSpPr/>
          <p:nvPr/>
        </p:nvSpPr>
        <p:spPr>
          <a:xfrm>
            <a:off x="777240" y="1600200"/>
            <a:ext cx="384048" cy="384048"/>
          </a:xfrm>
          <a:prstGeom prst="ellipse">
            <a:avLst/>
          </a:prstGeom>
          <a:solidFill>
            <a:srgbClr val="E0704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71" name="Google Shape;71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0209" y="1673169"/>
            <a:ext cx="238110" cy="238110"/>
          </a:xfrm>
          <a:prstGeom prst="rect">
            <a:avLst/>
          </a:prstGeom>
          <a:noFill/>
          <a:ln>
            <a:noFill/>
          </a:ln>
        </p:spPr>
      </p:pic>
      <p:sp>
        <p:nvSpPr>
          <p:cNvPr id="72" name="Google Shape;72;p6"/>
          <p:cNvSpPr/>
          <p:nvPr/>
        </p:nvSpPr>
        <p:spPr>
          <a:xfrm>
            <a:off x="1298448" y="1627632"/>
            <a:ext cx="30175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02B26"/>
              </a:buClr>
              <a:buSzPts val="1700"/>
              <a:buFont typeface="Cambria"/>
              <a:buNone/>
            </a:pPr>
            <a:r>
              <a:rPr b="1" i="0" lang="en-US" sz="1700" u="none" cap="none" strike="noStrike">
                <a:solidFill>
                  <a:srgbClr val="202B26"/>
                </a:solidFill>
                <a:latin typeface="Cambria"/>
                <a:ea typeface="Cambria"/>
                <a:cs typeface="Cambria"/>
                <a:sym typeface="Cambria"/>
              </a:rPr>
              <a:t>The problem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6"/>
          <p:cNvSpPr/>
          <p:nvPr/>
        </p:nvSpPr>
        <p:spPr>
          <a:xfrm>
            <a:off x="777240" y="2212848"/>
            <a:ext cx="1417320" cy="4389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0704F"/>
              </a:buClr>
              <a:buSzPts val="2100"/>
              <a:buFont typeface="Cambria"/>
              <a:buNone/>
            </a:pPr>
            <a:r>
              <a:rPr b="1" i="0" lang="en-US" sz="2100" u="none" cap="none" strike="noStrike">
                <a:solidFill>
                  <a:srgbClr val="E0704F"/>
                </a:solidFill>
                <a:latin typeface="Cambria"/>
                <a:ea typeface="Cambria"/>
                <a:cs typeface="Cambria"/>
                <a:sym typeface="Cambria"/>
              </a:rPr>
              <a:t>1 in 3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6"/>
          <p:cNvSpPr/>
          <p:nvPr/>
        </p:nvSpPr>
        <p:spPr>
          <a:xfrm>
            <a:off x="2194560" y="2240280"/>
            <a:ext cx="210312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645C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55645C"/>
                </a:solidFill>
                <a:latin typeface="Calibri"/>
                <a:ea typeface="Calibri"/>
                <a:cs typeface="Calibri"/>
                <a:sym typeface="Calibri"/>
              </a:rPr>
              <a:t>of us will face a skin concern that deserves expert eyes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6"/>
          <p:cNvSpPr/>
          <p:nvPr/>
        </p:nvSpPr>
        <p:spPr>
          <a:xfrm>
            <a:off x="777240" y="3145536"/>
            <a:ext cx="1417320" cy="4389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0704F"/>
              </a:buClr>
              <a:buSzPts val="2100"/>
              <a:buFont typeface="Cambria"/>
              <a:buNone/>
            </a:pPr>
            <a:r>
              <a:rPr b="1" i="0" lang="en-US" sz="2100" u="none" cap="none" strike="noStrike">
                <a:solidFill>
                  <a:srgbClr val="E0704F"/>
                </a:solidFill>
                <a:latin typeface="Cambria"/>
                <a:ea typeface="Cambria"/>
                <a:cs typeface="Cambria"/>
                <a:sym typeface="Cambria"/>
              </a:rPr>
              <a:t>Weeks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6"/>
          <p:cNvSpPr/>
          <p:nvPr/>
        </p:nvSpPr>
        <p:spPr>
          <a:xfrm>
            <a:off x="2194560" y="3172968"/>
            <a:ext cx="210312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645C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55645C"/>
                </a:solidFill>
                <a:latin typeface="Calibri"/>
                <a:ea typeface="Calibri"/>
                <a:cs typeface="Calibri"/>
                <a:sym typeface="Calibri"/>
              </a:rPr>
              <a:t>of waiting to see a dermatologist, in many regions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6"/>
          <p:cNvSpPr/>
          <p:nvPr/>
        </p:nvSpPr>
        <p:spPr>
          <a:xfrm>
            <a:off x="777240" y="4078224"/>
            <a:ext cx="1417320" cy="4389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0704F"/>
              </a:buClr>
              <a:buSzPts val="2100"/>
              <a:buFont typeface="Cambria"/>
              <a:buNone/>
            </a:pPr>
            <a:r>
              <a:rPr b="1" i="0" lang="en-US" sz="2100" u="none" cap="none" strike="noStrike">
                <a:solidFill>
                  <a:srgbClr val="E0704F"/>
                </a:solidFill>
                <a:latin typeface="Cambria"/>
                <a:ea typeface="Cambria"/>
                <a:cs typeface="Cambria"/>
                <a:sym typeface="Cambria"/>
              </a:rPr>
              <a:t>Risky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6"/>
          <p:cNvSpPr/>
          <p:nvPr/>
        </p:nvSpPr>
        <p:spPr>
          <a:xfrm>
            <a:off x="2194560" y="4105656"/>
            <a:ext cx="210312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645C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55645C"/>
                </a:solidFill>
                <a:latin typeface="Calibri"/>
                <a:ea typeface="Calibri"/>
                <a:cs typeface="Calibri"/>
                <a:sym typeface="Calibri"/>
              </a:rPr>
              <a:t>self-diagnosis — generic web answers can mislead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6"/>
          <p:cNvSpPr/>
          <p:nvPr/>
        </p:nvSpPr>
        <p:spPr>
          <a:xfrm>
            <a:off x="4663440" y="1325880"/>
            <a:ext cx="3977640" cy="3246120"/>
          </a:xfrm>
          <a:prstGeom prst="roundRect">
            <a:avLst>
              <a:gd fmla="val 3380" name="adj"/>
            </a:avLst>
          </a:prstGeom>
          <a:solidFill>
            <a:srgbClr val="D9EDE4"/>
          </a:solidFill>
          <a:ln>
            <a:noFill/>
          </a:ln>
          <a:effectLst>
            <a:outerShdw blurRad="177800" rotWithShape="0" algn="bl" dir="5400000" dist="76200">
              <a:srgbClr val="B5AA96">
                <a:alpha val="3490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" name="Google Shape;80;p6"/>
          <p:cNvSpPr/>
          <p:nvPr/>
        </p:nvSpPr>
        <p:spPr>
          <a:xfrm>
            <a:off x="4937760" y="1600200"/>
            <a:ext cx="384048" cy="384048"/>
          </a:xfrm>
          <a:prstGeom prst="ellipse">
            <a:avLst/>
          </a:prstGeom>
          <a:solidFill>
            <a:srgbClr val="1E6E5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81" name="Google Shape;81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010729" y="1673169"/>
            <a:ext cx="238110" cy="238110"/>
          </a:xfrm>
          <a:prstGeom prst="rect">
            <a:avLst/>
          </a:prstGeom>
          <a:noFill/>
          <a:ln>
            <a:noFill/>
          </a:ln>
        </p:spPr>
      </p:pic>
      <p:sp>
        <p:nvSpPr>
          <p:cNvPr id="82" name="Google Shape;82;p6"/>
          <p:cNvSpPr/>
          <p:nvPr/>
        </p:nvSpPr>
        <p:spPr>
          <a:xfrm>
            <a:off x="5458968" y="1627632"/>
            <a:ext cx="31089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02B26"/>
              </a:buClr>
              <a:buSzPts val="1700"/>
              <a:buFont typeface="Cambria"/>
              <a:buNone/>
            </a:pPr>
            <a:r>
              <a:rPr b="1" i="0" lang="en-US" sz="1700" u="none" cap="none" strike="noStrike">
                <a:solidFill>
                  <a:srgbClr val="202B26"/>
                </a:solidFill>
                <a:latin typeface="Cambria"/>
                <a:ea typeface="Cambria"/>
                <a:cs typeface="Cambria"/>
                <a:sym typeface="Cambria"/>
              </a:rPr>
              <a:t>The app — DermoAI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6"/>
          <p:cNvSpPr/>
          <p:nvPr/>
        </p:nvSpPr>
        <p:spPr>
          <a:xfrm>
            <a:off x="4937760" y="2121408"/>
            <a:ext cx="347472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02B26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202B26"/>
                </a:solidFill>
                <a:latin typeface="Calibri"/>
                <a:ea typeface="Calibri"/>
                <a:cs typeface="Calibri"/>
                <a:sym typeface="Calibri"/>
              </a:rPr>
              <a:t>Point your phone at a skin spot. DermoAI runs a skin model on-device, explains what it sees in plain language, and tells you when to see a professional — private, instant, offline.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6"/>
          <p:cNvSpPr/>
          <p:nvPr/>
        </p:nvSpPr>
        <p:spPr>
          <a:xfrm>
            <a:off x="4937760" y="3081528"/>
            <a:ext cx="118872" cy="118872"/>
          </a:xfrm>
          <a:prstGeom prst="ellipse">
            <a:avLst/>
          </a:prstGeom>
          <a:solidFill>
            <a:srgbClr val="1E6E5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" name="Google Shape;85;p6"/>
          <p:cNvSpPr/>
          <p:nvPr/>
        </p:nvSpPr>
        <p:spPr>
          <a:xfrm>
            <a:off x="5175504" y="2999232"/>
            <a:ext cx="32918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02B26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202B26"/>
                </a:solidFill>
                <a:latin typeface="Calibri"/>
                <a:ea typeface="Calibri"/>
                <a:cs typeface="Calibri"/>
                <a:sym typeface="Calibri"/>
              </a:rPr>
              <a:t>On-device AI — works fully offline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6"/>
          <p:cNvSpPr/>
          <p:nvPr/>
        </p:nvSpPr>
        <p:spPr>
          <a:xfrm>
            <a:off x="4937760" y="3465576"/>
            <a:ext cx="118872" cy="118872"/>
          </a:xfrm>
          <a:prstGeom prst="ellipse">
            <a:avLst/>
          </a:prstGeom>
          <a:solidFill>
            <a:srgbClr val="1E6E5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6"/>
          <p:cNvSpPr/>
          <p:nvPr/>
        </p:nvSpPr>
        <p:spPr>
          <a:xfrm>
            <a:off x="5175504" y="3383280"/>
            <a:ext cx="32918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02B26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202B26"/>
                </a:solidFill>
                <a:latin typeface="Calibri"/>
                <a:ea typeface="Calibri"/>
                <a:cs typeface="Calibri"/>
                <a:sym typeface="Calibri"/>
              </a:rPr>
              <a:t>Safety-first guidance, never alarmist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6"/>
          <p:cNvSpPr/>
          <p:nvPr/>
        </p:nvSpPr>
        <p:spPr>
          <a:xfrm>
            <a:off x="4937760" y="3849624"/>
            <a:ext cx="118872" cy="118872"/>
          </a:xfrm>
          <a:prstGeom prst="ellipse">
            <a:avLst/>
          </a:prstGeom>
          <a:solidFill>
            <a:srgbClr val="1E6E5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6"/>
          <p:cNvSpPr/>
          <p:nvPr/>
        </p:nvSpPr>
        <p:spPr>
          <a:xfrm>
            <a:off x="5175504" y="3767328"/>
            <a:ext cx="32918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02B26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202B26"/>
                </a:solidFill>
                <a:latin typeface="Calibri"/>
                <a:ea typeface="Calibri"/>
                <a:cs typeface="Calibri"/>
                <a:sym typeface="Calibri"/>
              </a:rPr>
              <a:t>Local dermatologist finder built in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6"/>
          <p:cNvSpPr/>
          <p:nvPr/>
        </p:nvSpPr>
        <p:spPr>
          <a:xfrm>
            <a:off x="4937760" y="4233672"/>
            <a:ext cx="118872" cy="118872"/>
          </a:xfrm>
          <a:prstGeom prst="ellipse">
            <a:avLst/>
          </a:prstGeom>
          <a:solidFill>
            <a:srgbClr val="1E6E5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6"/>
          <p:cNvSpPr/>
          <p:nvPr/>
        </p:nvSpPr>
        <p:spPr>
          <a:xfrm>
            <a:off x="5175504" y="4151376"/>
            <a:ext cx="32918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02B26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202B26"/>
                </a:solidFill>
                <a:latin typeface="Calibri"/>
                <a:ea typeface="Calibri"/>
                <a:cs typeface="Calibri"/>
                <a:sym typeface="Calibri"/>
              </a:rPr>
              <a:t>Track progress over time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6"/>
          <p:cNvSpPr/>
          <p:nvPr/>
        </p:nvSpPr>
        <p:spPr>
          <a:xfrm>
            <a:off x="1371600" y="4690872"/>
            <a:ext cx="6400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5645C"/>
              </a:buClr>
              <a:buSzPts val="1050"/>
              <a:buFont typeface="Calibri"/>
              <a:buNone/>
            </a:pPr>
            <a:r>
              <a:rPr b="0" i="1" lang="en-US" sz="1050" u="none" cap="none" strike="noStrike">
                <a:solidFill>
                  <a:srgbClr val="55645C"/>
                </a:solidFill>
                <a:latin typeface="Calibri"/>
                <a:ea typeface="Calibri"/>
                <a:cs typeface="Calibri"/>
                <a:sym typeface="Calibri"/>
              </a:rPr>
              <a:t>A screening aid, not a diagnosis — built for awareness and faster care.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7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4EFE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7"/>
          <p:cNvSpPr/>
          <p:nvPr/>
        </p:nvSpPr>
        <p:spPr>
          <a:xfrm>
            <a:off x="502920" y="365760"/>
            <a:ext cx="81381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6E5C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E6E5C"/>
                </a:solidFill>
                <a:latin typeface="Calibri"/>
                <a:ea typeface="Calibri"/>
                <a:cs typeface="Calibri"/>
                <a:sym typeface="Calibri"/>
              </a:rPr>
              <a:t>FEATURE 01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7"/>
          <p:cNvSpPr/>
          <p:nvPr/>
        </p:nvSpPr>
        <p:spPr>
          <a:xfrm>
            <a:off x="502920" y="603504"/>
            <a:ext cx="74980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02B26"/>
              </a:buClr>
              <a:buSzPts val="2700"/>
              <a:buFont typeface="Cambria"/>
              <a:buNone/>
            </a:pPr>
            <a:r>
              <a:rPr b="1" i="0" lang="en-US" sz="2700" u="none" cap="none" strike="noStrike">
                <a:solidFill>
                  <a:srgbClr val="202B26"/>
                </a:solidFill>
                <a:latin typeface="Cambria"/>
                <a:ea typeface="Cambria"/>
                <a:cs typeface="Cambria"/>
                <a:sym typeface="Cambria"/>
              </a:rPr>
              <a:t>Point. Scan. Understand your skin.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7"/>
          <p:cNvSpPr/>
          <p:nvPr/>
        </p:nvSpPr>
        <p:spPr>
          <a:xfrm>
            <a:off x="8549640" y="411480"/>
            <a:ext cx="411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5645C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55645C"/>
                </a:solidFill>
                <a:latin typeface="Calibri"/>
                <a:ea typeface="Calibri"/>
                <a:cs typeface="Calibri"/>
                <a:sym typeface="Calibri"/>
              </a:rPr>
              <a:t>03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7"/>
          <p:cNvSpPr/>
          <p:nvPr/>
        </p:nvSpPr>
        <p:spPr>
          <a:xfrm>
            <a:off x="502920" y="1490472"/>
            <a:ext cx="457200" cy="457200"/>
          </a:xfrm>
          <a:prstGeom prst="ellipse">
            <a:avLst/>
          </a:prstGeom>
          <a:solidFill>
            <a:srgbClr val="1E6E5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7"/>
          <p:cNvSpPr/>
          <p:nvPr/>
        </p:nvSpPr>
        <p:spPr>
          <a:xfrm>
            <a:off x="502920" y="1572768"/>
            <a:ext cx="457200" cy="3108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4EFE7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F4EFE7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7"/>
          <p:cNvSpPr/>
          <p:nvPr/>
        </p:nvSpPr>
        <p:spPr>
          <a:xfrm>
            <a:off x="1143000" y="1444752"/>
            <a:ext cx="31089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02B26"/>
              </a:buClr>
              <a:buSzPts val="1400"/>
              <a:buFont typeface="Cambria"/>
              <a:buNone/>
            </a:pPr>
            <a:r>
              <a:rPr b="1" i="0" lang="en-US" sz="1400" u="none" cap="none" strike="noStrike">
                <a:solidFill>
                  <a:srgbClr val="202B26"/>
                </a:solidFill>
                <a:latin typeface="Cambria"/>
                <a:ea typeface="Cambria"/>
                <a:cs typeface="Cambria"/>
                <a:sym typeface="Cambria"/>
              </a:rPr>
              <a:t>Capture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7"/>
          <p:cNvSpPr/>
          <p:nvPr/>
        </p:nvSpPr>
        <p:spPr>
          <a:xfrm>
            <a:off x="1143000" y="1746504"/>
            <a:ext cx="3154680" cy="4754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645C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55645C"/>
                </a:solidFill>
                <a:latin typeface="Calibri"/>
                <a:ea typeface="Calibri"/>
                <a:cs typeface="Calibri"/>
                <a:sym typeface="Calibri"/>
              </a:rPr>
              <a:t>Camera or gallery, with thoughtful framing and a gentle crop flow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7"/>
          <p:cNvSpPr/>
          <p:nvPr/>
        </p:nvSpPr>
        <p:spPr>
          <a:xfrm>
            <a:off x="502920" y="2322576"/>
            <a:ext cx="457200" cy="457200"/>
          </a:xfrm>
          <a:prstGeom prst="ellipse">
            <a:avLst/>
          </a:prstGeom>
          <a:solidFill>
            <a:srgbClr val="1E6E5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7"/>
          <p:cNvSpPr/>
          <p:nvPr/>
        </p:nvSpPr>
        <p:spPr>
          <a:xfrm>
            <a:off x="502920" y="2404872"/>
            <a:ext cx="457200" cy="3108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4EFE7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F4EFE7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7"/>
          <p:cNvSpPr/>
          <p:nvPr/>
        </p:nvSpPr>
        <p:spPr>
          <a:xfrm>
            <a:off x="1143000" y="2276856"/>
            <a:ext cx="31089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02B26"/>
              </a:buClr>
              <a:buSzPts val="1400"/>
              <a:buFont typeface="Cambria"/>
              <a:buNone/>
            </a:pPr>
            <a:r>
              <a:rPr b="1" i="0" lang="en-US" sz="1400" u="none" cap="none" strike="noStrike">
                <a:solidFill>
                  <a:srgbClr val="202B26"/>
                </a:solidFill>
                <a:latin typeface="Cambria"/>
                <a:ea typeface="Cambria"/>
                <a:cs typeface="Cambria"/>
                <a:sym typeface="Cambria"/>
              </a:rPr>
              <a:t>Analyze on-device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7"/>
          <p:cNvSpPr/>
          <p:nvPr/>
        </p:nvSpPr>
        <p:spPr>
          <a:xfrm>
            <a:off x="1143000" y="2578608"/>
            <a:ext cx="3154680" cy="4754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645C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55645C"/>
                </a:solidFill>
                <a:latin typeface="Calibri"/>
                <a:ea typeface="Calibri"/>
                <a:cs typeface="Calibri"/>
                <a:sym typeface="Calibri"/>
              </a:rPr>
              <a:t>A skin model scores the image privately — no internet needed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7"/>
          <p:cNvSpPr/>
          <p:nvPr/>
        </p:nvSpPr>
        <p:spPr>
          <a:xfrm>
            <a:off x="502920" y="3154680"/>
            <a:ext cx="457200" cy="457200"/>
          </a:xfrm>
          <a:prstGeom prst="ellipse">
            <a:avLst/>
          </a:prstGeom>
          <a:solidFill>
            <a:srgbClr val="1E6E5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7"/>
          <p:cNvSpPr/>
          <p:nvPr/>
        </p:nvSpPr>
        <p:spPr>
          <a:xfrm>
            <a:off x="502920" y="3236976"/>
            <a:ext cx="457200" cy="3108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4EFE7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F4EFE7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7"/>
          <p:cNvSpPr/>
          <p:nvPr/>
        </p:nvSpPr>
        <p:spPr>
          <a:xfrm>
            <a:off x="1143000" y="3108960"/>
            <a:ext cx="31089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02B26"/>
              </a:buClr>
              <a:buSzPts val="1400"/>
              <a:buFont typeface="Cambria"/>
              <a:buNone/>
            </a:pPr>
            <a:r>
              <a:rPr b="1" i="0" lang="en-US" sz="1400" u="none" cap="none" strike="noStrike">
                <a:solidFill>
                  <a:srgbClr val="202B26"/>
                </a:solidFill>
                <a:latin typeface="Cambria"/>
                <a:ea typeface="Cambria"/>
                <a:cs typeface="Cambria"/>
                <a:sym typeface="Cambria"/>
              </a:rPr>
              <a:t>Severity tier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7"/>
          <p:cNvSpPr/>
          <p:nvPr/>
        </p:nvSpPr>
        <p:spPr>
          <a:xfrm>
            <a:off x="1143000" y="3410712"/>
            <a:ext cx="3154680" cy="4754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645C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55645C"/>
                </a:solidFill>
                <a:latin typeface="Calibri"/>
                <a:ea typeface="Calibri"/>
                <a:cs typeface="Calibri"/>
                <a:sym typeface="Calibri"/>
              </a:rPr>
              <a:t>Low, moderate, or high guidance with a confidence score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7"/>
          <p:cNvSpPr/>
          <p:nvPr/>
        </p:nvSpPr>
        <p:spPr>
          <a:xfrm>
            <a:off x="502920" y="3986784"/>
            <a:ext cx="457200" cy="457200"/>
          </a:xfrm>
          <a:prstGeom prst="ellipse">
            <a:avLst/>
          </a:prstGeom>
          <a:solidFill>
            <a:srgbClr val="1E6E5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7"/>
          <p:cNvSpPr/>
          <p:nvPr/>
        </p:nvSpPr>
        <p:spPr>
          <a:xfrm>
            <a:off x="502920" y="4069080"/>
            <a:ext cx="457200" cy="3108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4EFE7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F4EFE7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7"/>
          <p:cNvSpPr/>
          <p:nvPr/>
        </p:nvSpPr>
        <p:spPr>
          <a:xfrm>
            <a:off x="1143000" y="3941064"/>
            <a:ext cx="31089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02B26"/>
              </a:buClr>
              <a:buSzPts val="1400"/>
              <a:buFont typeface="Cambria"/>
              <a:buNone/>
            </a:pPr>
            <a:r>
              <a:rPr b="1" i="0" lang="en-US" sz="1400" u="none" cap="none" strike="noStrike">
                <a:solidFill>
                  <a:srgbClr val="202B26"/>
                </a:solidFill>
                <a:latin typeface="Cambria"/>
                <a:ea typeface="Cambria"/>
                <a:cs typeface="Cambria"/>
                <a:sym typeface="Cambria"/>
              </a:rPr>
              <a:t>Plain-language summary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7"/>
          <p:cNvSpPr/>
          <p:nvPr/>
        </p:nvSpPr>
        <p:spPr>
          <a:xfrm>
            <a:off x="1143000" y="4242816"/>
            <a:ext cx="3154680" cy="4754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645C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55645C"/>
                </a:solidFill>
                <a:latin typeface="Calibri"/>
                <a:ea typeface="Calibri"/>
                <a:cs typeface="Calibri"/>
                <a:sym typeface="Calibri"/>
              </a:rPr>
              <a:t>Likely condition, runner-up possibilities, and next steps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7"/>
          <p:cNvSpPr/>
          <p:nvPr/>
        </p:nvSpPr>
        <p:spPr>
          <a:xfrm>
            <a:off x="4617720" y="1371600"/>
            <a:ext cx="4023360" cy="3200400"/>
          </a:xfrm>
          <a:prstGeom prst="roundRect">
            <a:avLst>
              <a:gd fmla="val 3429" name="adj"/>
            </a:avLst>
          </a:prstGeom>
          <a:solidFill>
            <a:srgbClr val="FFFFFF"/>
          </a:solidFill>
          <a:ln>
            <a:noFill/>
          </a:ln>
          <a:effectLst>
            <a:outerShdw blurRad="127000" rotWithShape="0" algn="bl" dir="5400000" dist="50800">
              <a:srgbClr val="C4BAA8">
                <a:alpha val="3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7"/>
          <p:cNvSpPr/>
          <p:nvPr/>
        </p:nvSpPr>
        <p:spPr>
          <a:xfrm>
            <a:off x="4892040" y="1609344"/>
            <a:ext cx="2377440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645C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55645C"/>
                </a:solidFill>
                <a:latin typeface="Calibri"/>
                <a:ea typeface="Calibri"/>
                <a:cs typeface="Calibri"/>
                <a:sym typeface="Calibri"/>
              </a:rPr>
              <a:t>YOUR SCAN RESULT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7"/>
          <p:cNvSpPr/>
          <p:nvPr/>
        </p:nvSpPr>
        <p:spPr>
          <a:xfrm>
            <a:off x="4892040" y="1883664"/>
            <a:ext cx="1417320" cy="384048"/>
          </a:xfrm>
          <a:prstGeom prst="roundRect">
            <a:avLst>
              <a:gd fmla="val 50000" name="adj"/>
            </a:avLst>
          </a:prstGeom>
          <a:solidFill>
            <a:srgbClr val="F7E2D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7"/>
          <p:cNvSpPr/>
          <p:nvPr/>
        </p:nvSpPr>
        <p:spPr>
          <a:xfrm>
            <a:off x="4892040" y="1947672"/>
            <a:ext cx="14173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64B2C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A64B2C"/>
                </a:solidFill>
                <a:latin typeface="Calibri"/>
                <a:ea typeface="Calibri"/>
                <a:cs typeface="Calibri"/>
                <a:sym typeface="Calibri"/>
              </a:rPr>
              <a:t>MODERATE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7"/>
          <p:cNvSpPr/>
          <p:nvPr/>
        </p:nvSpPr>
        <p:spPr>
          <a:xfrm>
            <a:off x="6537960" y="1947672"/>
            <a:ext cx="19202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202B26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202B26"/>
                </a:solidFill>
                <a:latin typeface="Calibri"/>
                <a:ea typeface="Calibri"/>
                <a:cs typeface="Calibri"/>
                <a:sym typeface="Calibri"/>
              </a:rPr>
              <a:t>87% confidence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23" name="Google Shape;123;p7"/>
          <p:cNvCxnSpPr/>
          <p:nvPr/>
        </p:nvCxnSpPr>
        <p:spPr>
          <a:xfrm>
            <a:off x="4892040" y="2606040"/>
            <a:ext cx="3474720" cy="0"/>
          </a:xfrm>
          <a:prstGeom prst="straightConnector1">
            <a:avLst/>
          </a:prstGeom>
          <a:noFill/>
          <a:ln cap="flat" cmpd="sng" w="12700">
            <a:solidFill>
              <a:srgbClr val="E3DCC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24" name="Google Shape;124;p7"/>
          <p:cNvSpPr/>
          <p:nvPr/>
        </p:nvSpPr>
        <p:spPr>
          <a:xfrm>
            <a:off x="4892040" y="2743200"/>
            <a:ext cx="2194560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645C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55645C"/>
                </a:solidFill>
                <a:latin typeface="Calibri"/>
                <a:ea typeface="Calibri"/>
                <a:cs typeface="Calibri"/>
                <a:sym typeface="Calibri"/>
              </a:rPr>
              <a:t>WHAT IT LIKELY IS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7"/>
          <p:cNvSpPr/>
          <p:nvPr/>
        </p:nvSpPr>
        <p:spPr>
          <a:xfrm>
            <a:off x="4892040" y="2980944"/>
            <a:ext cx="35661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02B26"/>
              </a:buClr>
              <a:buSzPts val="1600"/>
              <a:buFont typeface="Cambria"/>
              <a:buNone/>
            </a:pPr>
            <a:r>
              <a:rPr b="1" i="0" lang="en-US" sz="1600" u="none" cap="none" strike="noStrike">
                <a:solidFill>
                  <a:srgbClr val="202B26"/>
                </a:solidFill>
                <a:latin typeface="Cambria"/>
                <a:ea typeface="Cambria"/>
                <a:cs typeface="Cambria"/>
                <a:sym typeface="Cambria"/>
              </a:rPr>
              <a:t>Seborrheic keratosis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7"/>
          <p:cNvSpPr/>
          <p:nvPr/>
        </p:nvSpPr>
        <p:spPr>
          <a:xfrm>
            <a:off x="4892040" y="3456432"/>
            <a:ext cx="2194560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645C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55645C"/>
                </a:solidFill>
                <a:latin typeface="Calibri"/>
                <a:ea typeface="Calibri"/>
                <a:cs typeface="Calibri"/>
                <a:sym typeface="Calibri"/>
              </a:rPr>
              <a:t>ALSO POSSIBLE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7"/>
          <p:cNvSpPr/>
          <p:nvPr/>
        </p:nvSpPr>
        <p:spPr>
          <a:xfrm>
            <a:off x="4892040" y="3675888"/>
            <a:ext cx="35661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02B26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202B26"/>
                </a:solidFill>
                <a:latin typeface="Calibri"/>
                <a:ea typeface="Calibri"/>
                <a:cs typeface="Calibri"/>
                <a:sym typeface="Calibri"/>
              </a:rPr>
              <a:t>Eczema · Psoriasis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7"/>
          <p:cNvSpPr/>
          <p:nvPr/>
        </p:nvSpPr>
        <p:spPr>
          <a:xfrm>
            <a:off x="4892040" y="4133088"/>
            <a:ext cx="35661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645C"/>
              </a:buClr>
              <a:buSzPts val="950"/>
              <a:buFont typeface="Calibri"/>
              <a:buNone/>
            </a:pPr>
            <a:r>
              <a:rPr b="0" i="1" lang="en-US" sz="950" u="none" cap="none" strike="noStrike">
                <a:solidFill>
                  <a:srgbClr val="55645C"/>
                </a:solidFill>
                <a:latin typeface="Calibri"/>
                <a:ea typeface="Calibri"/>
                <a:cs typeface="Calibri"/>
                <a:sym typeface="Calibri"/>
              </a:rPr>
              <a:t>Screening aid — confirm with a professional before acting.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7"/>
          <p:cNvSpPr/>
          <p:nvPr/>
        </p:nvSpPr>
        <p:spPr>
          <a:xfrm>
            <a:off x="1371600" y="4690872"/>
            <a:ext cx="6400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5645C"/>
              </a:buClr>
              <a:buSzPts val="1050"/>
              <a:buFont typeface="Calibri"/>
              <a:buNone/>
            </a:pPr>
            <a:r>
              <a:rPr b="0" i="1" lang="en-US" sz="1050" u="none" cap="none" strike="noStrike">
                <a:solidFill>
                  <a:srgbClr val="55645C"/>
                </a:solidFill>
                <a:latin typeface="Calibri"/>
                <a:ea typeface="Calibri"/>
                <a:cs typeface="Calibri"/>
                <a:sym typeface="Calibri"/>
              </a:rPr>
              <a:t>Every result includes clear medical disclaimers and a clear path to professional care.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8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4EFE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8"/>
          <p:cNvSpPr/>
          <p:nvPr/>
        </p:nvSpPr>
        <p:spPr>
          <a:xfrm>
            <a:off x="502920" y="365760"/>
            <a:ext cx="81381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6E5C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E6E5C"/>
                </a:solidFill>
                <a:latin typeface="Calibri"/>
                <a:ea typeface="Calibri"/>
                <a:cs typeface="Calibri"/>
                <a:sym typeface="Calibri"/>
              </a:rPr>
              <a:t>FEATURE 03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8"/>
          <p:cNvSpPr/>
          <p:nvPr/>
        </p:nvSpPr>
        <p:spPr>
          <a:xfrm>
            <a:off x="502920" y="603504"/>
            <a:ext cx="74980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02B26"/>
              </a:buClr>
              <a:buSzPts val="2700"/>
              <a:buFont typeface="Cambria"/>
              <a:buNone/>
            </a:pPr>
            <a:r>
              <a:rPr b="1" i="0" lang="en-US" sz="2700" u="none" cap="none" strike="noStrike">
                <a:solidFill>
                  <a:srgbClr val="202B26"/>
                </a:solidFill>
                <a:latin typeface="Cambria"/>
                <a:ea typeface="Cambria"/>
                <a:cs typeface="Cambria"/>
                <a:sym typeface="Cambria"/>
              </a:rPr>
              <a:t>“What is this?” → “Who do I see?”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8"/>
          <p:cNvSpPr/>
          <p:nvPr/>
        </p:nvSpPr>
        <p:spPr>
          <a:xfrm>
            <a:off x="8549640" y="411480"/>
            <a:ext cx="411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5645C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55645C"/>
                </a:solidFill>
                <a:latin typeface="Calibri"/>
                <a:ea typeface="Calibri"/>
                <a:cs typeface="Calibri"/>
                <a:sym typeface="Calibri"/>
              </a:rPr>
              <a:t>05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8"/>
          <p:cNvSpPr/>
          <p:nvPr/>
        </p:nvSpPr>
        <p:spPr>
          <a:xfrm>
            <a:off x="502920" y="1371600"/>
            <a:ext cx="4206240" cy="3200400"/>
          </a:xfrm>
          <a:prstGeom prst="roundRect">
            <a:avLst>
              <a:gd fmla="val 3429" name="adj"/>
            </a:avLst>
          </a:prstGeom>
          <a:solidFill>
            <a:srgbClr val="D9EDE4"/>
          </a:solidFill>
          <a:ln>
            <a:noFill/>
          </a:ln>
          <a:effectLst>
            <a:outerShdw blurRad="177800" rotWithShape="0" algn="bl" dir="5400000" dist="76200">
              <a:srgbClr val="B5AA96">
                <a:alpha val="3490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8"/>
          <p:cNvSpPr/>
          <p:nvPr/>
        </p:nvSpPr>
        <p:spPr>
          <a:xfrm>
            <a:off x="777240" y="1536192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645C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55645C"/>
                </a:solidFill>
                <a:latin typeface="Calibri"/>
                <a:ea typeface="Calibri"/>
                <a:cs typeface="Calibri"/>
                <a:sym typeface="Calibri"/>
              </a:rPr>
              <a:t>NEARBY CLINICS · 12 FOUND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41" name="Google Shape;141;p8"/>
          <p:cNvCxnSpPr/>
          <p:nvPr/>
        </p:nvCxnSpPr>
        <p:spPr>
          <a:xfrm>
            <a:off x="1005840" y="1828800"/>
            <a:ext cx="0" cy="2651760"/>
          </a:xfrm>
          <a:prstGeom prst="straightConnector1">
            <a:avLst/>
          </a:prstGeom>
          <a:noFill/>
          <a:ln cap="flat" cmpd="sng" w="9525">
            <a:solidFill>
              <a:srgbClr val="C6D8CE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42" name="Google Shape;142;p8"/>
          <p:cNvCxnSpPr/>
          <p:nvPr/>
        </p:nvCxnSpPr>
        <p:spPr>
          <a:xfrm>
            <a:off x="1572768" y="1828800"/>
            <a:ext cx="0" cy="2651760"/>
          </a:xfrm>
          <a:prstGeom prst="straightConnector1">
            <a:avLst/>
          </a:prstGeom>
          <a:noFill/>
          <a:ln cap="flat" cmpd="sng" w="9525">
            <a:solidFill>
              <a:srgbClr val="C6D8CE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43" name="Google Shape;143;p8"/>
          <p:cNvCxnSpPr/>
          <p:nvPr/>
        </p:nvCxnSpPr>
        <p:spPr>
          <a:xfrm>
            <a:off x="2139696" y="1828800"/>
            <a:ext cx="0" cy="2651760"/>
          </a:xfrm>
          <a:prstGeom prst="straightConnector1">
            <a:avLst/>
          </a:prstGeom>
          <a:noFill/>
          <a:ln cap="flat" cmpd="sng" w="9525">
            <a:solidFill>
              <a:srgbClr val="C6D8CE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44" name="Google Shape;144;p8"/>
          <p:cNvCxnSpPr/>
          <p:nvPr/>
        </p:nvCxnSpPr>
        <p:spPr>
          <a:xfrm>
            <a:off x="2706624" y="1828800"/>
            <a:ext cx="0" cy="2651760"/>
          </a:xfrm>
          <a:prstGeom prst="straightConnector1">
            <a:avLst/>
          </a:prstGeom>
          <a:noFill/>
          <a:ln cap="flat" cmpd="sng" w="9525">
            <a:solidFill>
              <a:srgbClr val="C6D8CE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45" name="Google Shape;145;p8"/>
          <p:cNvCxnSpPr/>
          <p:nvPr/>
        </p:nvCxnSpPr>
        <p:spPr>
          <a:xfrm>
            <a:off x="3273552" y="1828800"/>
            <a:ext cx="0" cy="2651760"/>
          </a:xfrm>
          <a:prstGeom prst="straightConnector1">
            <a:avLst/>
          </a:prstGeom>
          <a:noFill/>
          <a:ln cap="flat" cmpd="sng" w="9525">
            <a:solidFill>
              <a:srgbClr val="C6D8CE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46" name="Google Shape;146;p8"/>
          <p:cNvCxnSpPr/>
          <p:nvPr/>
        </p:nvCxnSpPr>
        <p:spPr>
          <a:xfrm>
            <a:off x="3840480" y="1828800"/>
            <a:ext cx="0" cy="2651760"/>
          </a:xfrm>
          <a:prstGeom prst="straightConnector1">
            <a:avLst/>
          </a:prstGeom>
          <a:noFill/>
          <a:ln cap="flat" cmpd="sng" w="9525">
            <a:solidFill>
              <a:srgbClr val="C6D8CE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47" name="Google Shape;147;p8"/>
          <p:cNvCxnSpPr/>
          <p:nvPr/>
        </p:nvCxnSpPr>
        <p:spPr>
          <a:xfrm>
            <a:off x="4407408" y="1828800"/>
            <a:ext cx="0" cy="2651760"/>
          </a:xfrm>
          <a:prstGeom prst="straightConnector1">
            <a:avLst/>
          </a:prstGeom>
          <a:noFill/>
          <a:ln cap="flat" cmpd="sng" w="9525">
            <a:solidFill>
              <a:srgbClr val="C6D8CE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48" name="Google Shape;148;p8"/>
          <p:cNvCxnSpPr/>
          <p:nvPr/>
        </p:nvCxnSpPr>
        <p:spPr>
          <a:xfrm>
            <a:off x="731520" y="1965960"/>
            <a:ext cx="3749040" cy="0"/>
          </a:xfrm>
          <a:prstGeom prst="straightConnector1">
            <a:avLst/>
          </a:prstGeom>
          <a:noFill/>
          <a:ln cap="flat" cmpd="sng" w="9525">
            <a:solidFill>
              <a:srgbClr val="C6D8CE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49" name="Google Shape;149;p8"/>
          <p:cNvCxnSpPr/>
          <p:nvPr/>
        </p:nvCxnSpPr>
        <p:spPr>
          <a:xfrm>
            <a:off x="731520" y="2532888"/>
            <a:ext cx="3749040" cy="0"/>
          </a:xfrm>
          <a:prstGeom prst="straightConnector1">
            <a:avLst/>
          </a:prstGeom>
          <a:noFill/>
          <a:ln cap="flat" cmpd="sng" w="9525">
            <a:solidFill>
              <a:srgbClr val="C6D8CE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50" name="Google Shape;150;p8"/>
          <p:cNvCxnSpPr/>
          <p:nvPr/>
        </p:nvCxnSpPr>
        <p:spPr>
          <a:xfrm>
            <a:off x="731520" y="3099816"/>
            <a:ext cx="3749040" cy="0"/>
          </a:xfrm>
          <a:prstGeom prst="straightConnector1">
            <a:avLst/>
          </a:prstGeom>
          <a:noFill/>
          <a:ln cap="flat" cmpd="sng" w="9525">
            <a:solidFill>
              <a:srgbClr val="C6D8CE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51" name="Google Shape;151;p8"/>
          <p:cNvCxnSpPr/>
          <p:nvPr/>
        </p:nvCxnSpPr>
        <p:spPr>
          <a:xfrm>
            <a:off x="731520" y="3666744"/>
            <a:ext cx="3749040" cy="0"/>
          </a:xfrm>
          <a:prstGeom prst="straightConnector1">
            <a:avLst/>
          </a:prstGeom>
          <a:noFill/>
          <a:ln cap="flat" cmpd="sng" w="9525">
            <a:solidFill>
              <a:srgbClr val="C6D8CE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52" name="Google Shape;152;p8"/>
          <p:cNvCxnSpPr/>
          <p:nvPr/>
        </p:nvCxnSpPr>
        <p:spPr>
          <a:xfrm>
            <a:off x="731520" y="4233672"/>
            <a:ext cx="3749040" cy="0"/>
          </a:xfrm>
          <a:prstGeom prst="straightConnector1">
            <a:avLst/>
          </a:prstGeom>
          <a:noFill/>
          <a:ln cap="flat" cmpd="sng" w="9525">
            <a:solidFill>
              <a:srgbClr val="C6D8CE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53" name="Google Shape;153;p8"/>
          <p:cNvCxnSpPr/>
          <p:nvPr/>
        </p:nvCxnSpPr>
        <p:spPr>
          <a:xfrm>
            <a:off x="685800" y="2880360"/>
            <a:ext cx="3840480" cy="0"/>
          </a:xfrm>
          <a:prstGeom prst="straightConnector1">
            <a:avLst/>
          </a:prstGeom>
          <a:noFill/>
          <a:ln cap="flat" cmpd="sng" w="63500">
            <a:solidFill>
              <a:srgbClr val="EDF3EE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54" name="Google Shape;154;p8"/>
          <p:cNvCxnSpPr/>
          <p:nvPr/>
        </p:nvCxnSpPr>
        <p:spPr>
          <a:xfrm>
            <a:off x="2697480" y="1783080"/>
            <a:ext cx="0" cy="2743200"/>
          </a:xfrm>
          <a:prstGeom prst="straightConnector1">
            <a:avLst/>
          </a:prstGeom>
          <a:noFill/>
          <a:ln cap="flat" cmpd="sng" w="50800">
            <a:solidFill>
              <a:srgbClr val="EDF3EE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55" name="Google Shape;155;p8"/>
          <p:cNvSpPr/>
          <p:nvPr/>
        </p:nvSpPr>
        <p:spPr>
          <a:xfrm>
            <a:off x="1783080" y="2240280"/>
            <a:ext cx="292608" cy="292608"/>
          </a:xfrm>
          <a:prstGeom prst="ellipse">
            <a:avLst/>
          </a:prstGeom>
          <a:solidFill>
            <a:srgbClr val="1E6E5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8"/>
          <p:cNvSpPr/>
          <p:nvPr/>
        </p:nvSpPr>
        <p:spPr>
          <a:xfrm>
            <a:off x="1883664" y="2340864"/>
            <a:ext cx="91440" cy="91440"/>
          </a:xfrm>
          <a:prstGeom prst="ellipse">
            <a:avLst/>
          </a:prstGeom>
          <a:solidFill>
            <a:srgbClr val="F4EFE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8"/>
          <p:cNvSpPr/>
          <p:nvPr/>
        </p:nvSpPr>
        <p:spPr>
          <a:xfrm>
            <a:off x="3246120" y="3063240"/>
            <a:ext cx="292608" cy="292608"/>
          </a:xfrm>
          <a:prstGeom prst="ellipse">
            <a:avLst/>
          </a:prstGeom>
          <a:solidFill>
            <a:srgbClr val="1E6E5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8"/>
          <p:cNvSpPr/>
          <p:nvPr/>
        </p:nvSpPr>
        <p:spPr>
          <a:xfrm>
            <a:off x="3346704" y="3163824"/>
            <a:ext cx="91440" cy="91440"/>
          </a:xfrm>
          <a:prstGeom prst="ellipse">
            <a:avLst/>
          </a:prstGeom>
          <a:solidFill>
            <a:srgbClr val="F4EFE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8"/>
          <p:cNvSpPr/>
          <p:nvPr/>
        </p:nvSpPr>
        <p:spPr>
          <a:xfrm>
            <a:off x="2377440" y="3611880"/>
            <a:ext cx="292608" cy="292608"/>
          </a:xfrm>
          <a:prstGeom prst="ellipse">
            <a:avLst/>
          </a:prstGeom>
          <a:solidFill>
            <a:srgbClr val="1E6E5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8"/>
          <p:cNvSpPr/>
          <p:nvPr/>
        </p:nvSpPr>
        <p:spPr>
          <a:xfrm>
            <a:off x="2478024" y="3712464"/>
            <a:ext cx="91440" cy="91440"/>
          </a:xfrm>
          <a:prstGeom prst="ellipse">
            <a:avLst/>
          </a:prstGeom>
          <a:solidFill>
            <a:srgbClr val="F4EFE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8"/>
          <p:cNvSpPr/>
          <p:nvPr/>
        </p:nvSpPr>
        <p:spPr>
          <a:xfrm>
            <a:off x="3063240" y="2377440"/>
            <a:ext cx="384048" cy="384048"/>
          </a:xfrm>
          <a:prstGeom prst="ellipse">
            <a:avLst/>
          </a:prstGeom>
          <a:solidFill>
            <a:srgbClr val="E0704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8"/>
          <p:cNvSpPr/>
          <p:nvPr/>
        </p:nvSpPr>
        <p:spPr>
          <a:xfrm>
            <a:off x="3200400" y="2514600"/>
            <a:ext cx="109728" cy="109728"/>
          </a:xfrm>
          <a:prstGeom prst="ellipse">
            <a:avLst/>
          </a:prstGeom>
          <a:solidFill>
            <a:srgbClr val="F4EFE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8"/>
          <p:cNvSpPr/>
          <p:nvPr/>
        </p:nvSpPr>
        <p:spPr>
          <a:xfrm>
            <a:off x="4892040" y="1389888"/>
            <a:ext cx="3703320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02B26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202B26"/>
                </a:solidFill>
                <a:latin typeface="Calibri"/>
                <a:ea typeface="Calibri"/>
                <a:cs typeface="Calibri"/>
                <a:sym typeface="Calibri"/>
              </a:rPr>
              <a:t>The finder maps real dermatology clinics around you — powered by OpenStreetMap, no account needed. Tap a clinic to call or get directions.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8"/>
          <p:cNvSpPr/>
          <p:nvPr/>
        </p:nvSpPr>
        <p:spPr>
          <a:xfrm>
            <a:off x="4892040" y="2286000"/>
            <a:ext cx="3749040" cy="1463040"/>
          </a:xfrm>
          <a:prstGeom prst="roundRect">
            <a:avLst>
              <a:gd fmla="val 7500" name="adj"/>
            </a:avLst>
          </a:prstGeom>
          <a:solidFill>
            <a:srgbClr val="FFFFFF"/>
          </a:solidFill>
          <a:ln>
            <a:noFill/>
          </a:ln>
          <a:effectLst>
            <a:outerShdw blurRad="127000" rotWithShape="0" algn="bl" dir="5400000" dist="50800">
              <a:srgbClr val="C4BAA8">
                <a:alpha val="3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8"/>
          <p:cNvSpPr/>
          <p:nvPr/>
        </p:nvSpPr>
        <p:spPr>
          <a:xfrm>
            <a:off x="5138928" y="2542032"/>
            <a:ext cx="146304" cy="146304"/>
          </a:xfrm>
          <a:prstGeom prst="ellipse">
            <a:avLst/>
          </a:prstGeom>
          <a:solidFill>
            <a:srgbClr val="1E6E5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8"/>
          <p:cNvSpPr/>
          <p:nvPr/>
        </p:nvSpPr>
        <p:spPr>
          <a:xfrm>
            <a:off x="5413248" y="2450592"/>
            <a:ext cx="21945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02B26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202B26"/>
                </a:solidFill>
                <a:latin typeface="Calibri"/>
                <a:ea typeface="Calibri"/>
                <a:cs typeface="Calibri"/>
                <a:sym typeface="Calibri"/>
              </a:rPr>
              <a:t>DermaCare Clinic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8"/>
          <p:cNvSpPr/>
          <p:nvPr/>
        </p:nvSpPr>
        <p:spPr>
          <a:xfrm>
            <a:off x="5413248" y="2724912"/>
            <a:ext cx="2194560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645C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5645C"/>
                </a:solidFill>
                <a:latin typeface="Calibri"/>
                <a:ea typeface="Calibri"/>
                <a:cs typeface="Calibri"/>
                <a:sym typeface="Calibri"/>
              </a:rPr>
              <a:t>0.4 mi · Open now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8"/>
          <p:cNvSpPr/>
          <p:nvPr/>
        </p:nvSpPr>
        <p:spPr>
          <a:xfrm>
            <a:off x="8229600" y="2450592"/>
            <a:ext cx="329184" cy="329184"/>
          </a:xfrm>
          <a:prstGeom prst="ellipse">
            <a:avLst/>
          </a:prstGeom>
          <a:solidFill>
            <a:srgbClr val="1E6E5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69" name="Google Shape;169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292145" y="2513137"/>
            <a:ext cx="204094" cy="20409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70" name="Google Shape;170;p8"/>
          <p:cNvCxnSpPr/>
          <p:nvPr/>
        </p:nvCxnSpPr>
        <p:spPr>
          <a:xfrm>
            <a:off x="5138928" y="3127248"/>
            <a:ext cx="3291840" cy="0"/>
          </a:xfrm>
          <a:prstGeom prst="straightConnector1">
            <a:avLst/>
          </a:prstGeom>
          <a:noFill/>
          <a:ln cap="flat" cmpd="sng" w="12700">
            <a:solidFill>
              <a:srgbClr val="E3DCC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71" name="Google Shape;171;p8"/>
          <p:cNvSpPr/>
          <p:nvPr/>
        </p:nvSpPr>
        <p:spPr>
          <a:xfrm>
            <a:off x="5138928" y="3401568"/>
            <a:ext cx="146304" cy="146304"/>
          </a:xfrm>
          <a:prstGeom prst="ellipse">
            <a:avLst/>
          </a:prstGeom>
          <a:solidFill>
            <a:srgbClr val="1E6E5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8"/>
          <p:cNvSpPr/>
          <p:nvPr/>
        </p:nvSpPr>
        <p:spPr>
          <a:xfrm>
            <a:off x="5413248" y="3310128"/>
            <a:ext cx="21945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02B26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202B26"/>
                </a:solidFill>
                <a:latin typeface="Calibri"/>
                <a:ea typeface="Calibri"/>
                <a:cs typeface="Calibri"/>
                <a:sym typeface="Calibri"/>
              </a:rPr>
              <a:t>City Skin &amp; Laser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8"/>
          <p:cNvSpPr/>
          <p:nvPr/>
        </p:nvSpPr>
        <p:spPr>
          <a:xfrm>
            <a:off x="5413248" y="3584448"/>
            <a:ext cx="2194560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645C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5645C"/>
                </a:solidFill>
                <a:latin typeface="Calibri"/>
                <a:ea typeface="Calibri"/>
                <a:cs typeface="Calibri"/>
                <a:sym typeface="Calibri"/>
              </a:rPr>
              <a:t>0.9 mi · Accepting new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8"/>
          <p:cNvSpPr/>
          <p:nvPr/>
        </p:nvSpPr>
        <p:spPr>
          <a:xfrm>
            <a:off x="8229600" y="3310128"/>
            <a:ext cx="329184" cy="329184"/>
          </a:xfrm>
          <a:prstGeom prst="ellipse">
            <a:avLst/>
          </a:prstGeom>
          <a:solidFill>
            <a:srgbClr val="1E6E5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75" name="Google Shape;175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292145" y="3372673"/>
            <a:ext cx="204094" cy="204094"/>
          </a:xfrm>
          <a:prstGeom prst="rect">
            <a:avLst/>
          </a:prstGeom>
          <a:noFill/>
          <a:ln>
            <a:noFill/>
          </a:ln>
        </p:spPr>
      </p:pic>
      <p:sp>
        <p:nvSpPr>
          <p:cNvPr id="176" name="Google Shape;176;p8"/>
          <p:cNvSpPr/>
          <p:nvPr/>
        </p:nvSpPr>
        <p:spPr>
          <a:xfrm>
            <a:off x="4892040" y="3950208"/>
            <a:ext cx="3749040" cy="566928"/>
          </a:xfrm>
          <a:prstGeom prst="roundRect">
            <a:avLst>
              <a:gd fmla="val 50000" name="adj"/>
            </a:avLst>
          </a:prstGeom>
          <a:solidFill>
            <a:srgbClr val="F7E2D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p8"/>
          <p:cNvSpPr/>
          <p:nvPr/>
        </p:nvSpPr>
        <p:spPr>
          <a:xfrm>
            <a:off x="4892040" y="4023360"/>
            <a:ext cx="374904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64B2C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A64B2C"/>
                </a:solidFill>
                <a:latin typeface="Calibri"/>
                <a:ea typeface="Calibri"/>
                <a:cs typeface="Calibri"/>
                <a:sym typeface="Calibri"/>
              </a:rPr>
              <a:t>Flagged scan? A “Consult a dermatologist” action appears right on the result.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9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4EFE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p9"/>
          <p:cNvSpPr/>
          <p:nvPr/>
        </p:nvSpPr>
        <p:spPr>
          <a:xfrm>
            <a:off x="502920" y="365760"/>
            <a:ext cx="81381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6E5C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E6E5C"/>
                </a:solidFill>
                <a:latin typeface="Calibri"/>
                <a:ea typeface="Calibri"/>
                <a:cs typeface="Calibri"/>
                <a:sym typeface="Calibri"/>
              </a:rPr>
              <a:t>FEATURE 04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9"/>
          <p:cNvSpPr/>
          <p:nvPr/>
        </p:nvSpPr>
        <p:spPr>
          <a:xfrm>
            <a:off x="502920" y="603504"/>
            <a:ext cx="74980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02B26"/>
              </a:buClr>
              <a:buSzPts val="2700"/>
              <a:buFont typeface="Cambria"/>
              <a:buNone/>
            </a:pPr>
            <a:r>
              <a:rPr b="1" i="0" lang="en-US" sz="2700" u="none" cap="none" strike="noStrike">
                <a:solidFill>
                  <a:srgbClr val="202B26"/>
                </a:solidFill>
                <a:latin typeface="Cambria"/>
                <a:ea typeface="Cambria"/>
                <a:cs typeface="Cambria"/>
                <a:sym typeface="Cambria"/>
              </a:rPr>
              <a:t>Watch your skin change — week by week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9"/>
          <p:cNvSpPr/>
          <p:nvPr/>
        </p:nvSpPr>
        <p:spPr>
          <a:xfrm>
            <a:off x="8549640" y="411480"/>
            <a:ext cx="411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5645C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55645C"/>
                </a:solidFill>
                <a:latin typeface="Calibri"/>
                <a:ea typeface="Calibri"/>
                <a:cs typeface="Calibri"/>
                <a:sym typeface="Calibri"/>
              </a:rPr>
              <a:t>06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9"/>
          <p:cNvSpPr/>
          <p:nvPr/>
        </p:nvSpPr>
        <p:spPr>
          <a:xfrm>
            <a:off x="502920" y="1371600"/>
            <a:ext cx="3977640" cy="1572768"/>
          </a:xfrm>
          <a:prstGeom prst="roundRect">
            <a:avLst>
              <a:gd fmla="val 6977" name="adj"/>
            </a:avLst>
          </a:prstGeom>
          <a:solidFill>
            <a:srgbClr val="FFFFFF"/>
          </a:solidFill>
          <a:ln>
            <a:noFill/>
          </a:ln>
          <a:effectLst>
            <a:outerShdw blurRad="127000" rotWithShape="0" algn="bl" dir="5400000" dist="50800">
              <a:srgbClr val="C4BAA8">
                <a:alpha val="3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" name="Google Shape;188;p9"/>
          <p:cNvSpPr/>
          <p:nvPr/>
        </p:nvSpPr>
        <p:spPr>
          <a:xfrm>
            <a:off x="704088" y="1554480"/>
            <a:ext cx="365760" cy="365760"/>
          </a:xfrm>
          <a:prstGeom prst="ellipse">
            <a:avLst/>
          </a:prstGeom>
          <a:solidFill>
            <a:srgbClr val="1E6E5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89" name="Google Shape;189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73582" y="1623974"/>
            <a:ext cx="226771" cy="226771"/>
          </a:xfrm>
          <a:prstGeom prst="rect">
            <a:avLst/>
          </a:prstGeom>
          <a:noFill/>
          <a:ln>
            <a:noFill/>
          </a:ln>
        </p:spPr>
      </p:pic>
      <p:sp>
        <p:nvSpPr>
          <p:cNvPr id="190" name="Google Shape;190;p9"/>
          <p:cNvSpPr/>
          <p:nvPr/>
        </p:nvSpPr>
        <p:spPr>
          <a:xfrm>
            <a:off x="1234440" y="1572768"/>
            <a:ext cx="3108960" cy="3108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02B26"/>
              </a:buClr>
              <a:buSzPts val="1400"/>
              <a:buFont typeface="Cambria"/>
              <a:buNone/>
            </a:pPr>
            <a:r>
              <a:rPr b="1" i="0" lang="en-US" sz="1400" u="none" cap="none" strike="noStrike">
                <a:solidFill>
                  <a:srgbClr val="202B26"/>
                </a:solidFill>
                <a:latin typeface="Cambria"/>
                <a:ea typeface="Cambria"/>
                <a:cs typeface="Cambria"/>
                <a:sym typeface="Cambria"/>
              </a:rPr>
              <a:t>Timeline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9"/>
          <p:cNvSpPr/>
          <p:nvPr/>
        </p:nvSpPr>
        <p:spPr>
          <a:xfrm>
            <a:off x="758952" y="2029968"/>
            <a:ext cx="347472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645C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55645C"/>
                </a:solidFill>
                <a:latin typeface="Calibri"/>
                <a:ea typeface="Calibri"/>
                <a:cs typeface="Calibri"/>
                <a:sym typeface="Calibri"/>
              </a:rPr>
              <a:t>Every scan saved with its photo and date — see how a spot evolves over time.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9"/>
          <p:cNvSpPr/>
          <p:nvPr/>
        </p:nvSpPr>
        <p:spPr>
          <a:xfrm>
            <a:off x="4663440" y="1371600"/>
            <a:ext cx="3977640" cy="1572768"/>
          </a:xfrm>
          <a:prstGeom prst="roundRect">
            <a:avLst>
              <a:gd fmla="val 6977" name="adj"/>
            </a:avLst>
          </a:prstGeom>
          <a:solidFill>
            <a:srgbClr val="FFFFFF"/>
          </a:solidFill>
          <a:ln>
            <a:noFill/>
          </a:ln>
          <a:effectLst>
            <a:outerShdw blurRad="127000" rotWithShape="0" algn="bl" dir="5400000" dist="50800">
              <a:srgbClr val="C4BAA8">
                <a:alpha val="3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p9"/>
          <p:cNvSpPr/>
          <p:nvPr/>
        </p:nvSpPr>
        <p:spPr>
          <a:xfrm>
            <a:off x="4864608" y="1554480"/>
            <a:ext cx="365760" cy="365760"/>
          </a:xfrm>
          <a:prstGeom prst="ellipse">
            <a:avLst/>
          </a:prstGeom>
          <a:solidFill>
            <a:srgbClr val="1E6E5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94" name="Google Shape;194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934102" y="1623974"/>
            <a:ext cx="226771" cy="226771"/>
          </a:xfrm>
          <a:prstGeom prst="rect">
            <a:avLst/>
          </a:prstGeom>
          <a:noFill/>
          <a:ln>
            <a:noFill/>
          </a:ln>
        </p:spPr>
      </p:pic>
      <p:sp>
        <p:nvSpPr>
          <p:cNvPr id="195" name="Google Shape;195;p9"/>
          <p:cNvSpPr/>
          <p:nvPr/>
        </p:nvSpPr>
        <p:spPr>
          <a:xfrm>
            <a:off x="5394960" y="1572768"/>
            <a:ext cx="3108960" cy="3108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02B26"/>
              </a:buClr>
              <a:buSzPts val="1400"/>
              <a:buFont typeface="Cambria"/>
              <a:buNone/>
            </a:pPr>
            <a:r>
              <a:rPr b="1" i="0" lang="en-US" sz="1400" u="none" cap="none" strike="noStrike">
                <a:solidFill>
                  <a:srgbClr val="202B26"/>
                </a:solidFill>
                <a:latin typeface="Cambria"/>
                <a:ea typeface="Cambria"/>
                <a:cs typeface="Cambria"/>
                <a:sym typeface="Cambria"/>
              </a:rPr>
              <a:t>Treatment plans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9"/>
          <p:cNvSpPr/>
          <p:nvPr/>
        </p:nvSpPr>
        <p:spPr>
          <a:xfrm>
            <a:off x="4919472" y="2029968"/>
            <a:ext cx="347472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645C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55645C"/>
                </a:solidFill>
                <a:latin typeface="Calibri"/>
                <a:ea typeface="Calibri"/>
                <a:cs typeface="Calibri"/>
                <a:sym typeface="Calibri"/>
              </a:rPr>
              <a:t>Step-by-step plans with completions and a streak counter to stay consistent.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9"/>
          <p:cNvSpPr/>
          <p:nvPr/>
        </p:nvSpPr>
        <p:spPr>
          <a:xfrm>
            <a:off x="502920" y="3072384"/>
            <a:ext cx="3977640" cy="1572768"/>
          </a:xfrm>
          <a:prstGeom prst="roundRect">
            <a:avLst>
              <a:gd fmla="val 6977" name="adj"/>
            </a:avLst>
          </a:prstGeom>
          <a:solidFill>
            <a:srgbClr val="FFFFFF"/>
          </a:solidFill>
          <a:ln>
            <a:noFill/>
          </a:ln>
          <a:effectLst>
            <a:outerShdw blurRad="127000" rotWithShape="0" algn="bl" dir="5400000" dist="50800">
              <a:srgbClr val="C4BAA8">
                <a:alpha val="3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p9"/>
          <p:cNvSpPr/>
          <p:nvPr/>
        </p:nvSpPr>
        <p:spPr>
          <a:xfrm>
            <a:off x="704088" y="3255264"/>
            <a:ext cx="365760" cy="365760"/>
          </a:xfrm>
          <a:prstGeom prst="ellipse">
            <a:avLst/>
          </a:prstGeom>
          <a:solidFill>
            <a:srgbClr val="1E6E5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99" name="Google Shape;199;p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73582" y="3324758"/>
            <a:ext cx="226771" cy="226771"/>
          </a:xfrm>
          <a:prstGeom prst="rect">
            <a:avLst/>
          </a:prstGeom>
          <a:noFill/>
          <a:ln>
            <a:noFill/>
          </a:ln>
        </p:spPr>
      </p:pic>
      <p:sp>
        <p:nvSpPr>
          <p:cNvPr id="200" name="Google Shape;200;p9"/>
          <p:cNvSpPr/>
          <p:nvPr/>
        </p:nvSpPr>
        <p:spPr>
          <a:xfrm>
            <a:off x="1234440" y="3273552"/>
            <a:ext cx="3108960" cy="3108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02B26"/>
              </a:buClr>
              <a:buSzPts val="1400"/>
              <a:buFont typeface="Cambria"/>
              <a:buNone/>
            </a:pPr>
            <a:r>
              <a:rPr b="1" i="0" lang="en-US" sz="1400" u="none" cap="none" strike="noStrike">
                <a:solidFill>
                  <a:srgbClr val="202B26"/>
                </a:solidFill>
                <a:latin typeface="Cambria"/>
                <a:ea typeface="Cambria"/>
                <a:cs typeface="Cambria"/>
                <a:sym typeface="Cambria"/>
              </a:rPr>
              <a:t>Analytics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9"/>
          <p:cNvSpPr/>
          <p:nvPr/>
        </p:nvSpPr>
        <p:spPr>
          <a:xfrm>
            <a:off x="758952" y="3730752"/>
            <a:ext cx="347472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645C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55645C"/>
                </a:solidFill>
                <a:latin typeface="Calibri"/>
                <a:ea typeface="Calibri"/>
                <a:cs typeface="Calibri"/>
                <a:sym typeface="Calibri"/>
              </a:rPr>
              <a:t>Trends across scans — severity, frequency, and progress at a glance.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9"/>
          <p:cNvSpPr/>
          <p:nvPr/>
        </p:nvSpPr>
        <p:spPr>
          <a:xfrm>
            <a:off x="4663440" y="3072384"/>
            <a:ext cx="3977640" cy="1572768"/>
          </a:xfrm>
          <a:prstGeom prst="roundRect">
            <a:avLst>
              <a:gd fmla="val 6977" name="adj"/>
            </a:avLst>
          </a:prstGeom>
          <a:solidFill>
            <a:srgbClr val="FFFFFF"/>
          </a:solidFill>
          <a:ln>
            <a:noFill/>
          </a:ln>
          <a:effectLst>
            <a:outerShdw blurRad="127000" rotWithShape="0" algn="bl" dir="5400000" dist="50800">
              <a:srgbClr val="C4BAA8">
                <a:alpha val="3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p9"/>
          <p:cNvSpPr/>
          <p:nvPr/>
        </p:nvSpPr>
        <p:spPr>
          <a:xfrm>
            <a:off x="4864608" y="3255264"/>
            <a:ext cx="365760" cy="365760"/>
          </a:xfrm>
          <a:prstGeom prst="ellipse">
            <a:avLst/>
          </a:prstGeom>
          <a:solidFill>
            <a:srgbClr val="1E6E5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04" name="Google Shape;204;p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934102" y="3324758"/>
            <a:ext cx="226771" cy="226771"/>
          </a:xfrm>
          <a:prstGeom prst="rect">
            <a:avLst/>
          </a:prstGeom>
          <a:noFill/>
          <a:ln>
            <a:noFill/>
          </a:ln>
        </p:spPr>
      </p:pic>
      <p:sp>
        <p:nvSpPr>
          <p:cNvPr id="205" name="Google Shape;205;p9"/>
          <p:cNvSpPr/>
          <p:nvPr/>
        </p:nvSpPr>
        <p:spPr>
          <a:xfrm>
            <a:off x="5394960" y="3273552"/>
            <a:ext cx="3108960" cy="3108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02B26"/>
              </a:buClr>
              <a:buSzPts val="1400"/>
              <a:buFont typeface="Cambria"/>
              <a:buNone/>
            </a:pPr>
            <a:r>
              <a:rPr b="1" i="0" lang="en-US" sz="1400" u="none" cap="none" strike="noStrike">
                <a:solidFill>
                  <a:srgbClr val="202B26"/>
                </a:solidFill>
                <a:latin typeface="Cambria"/>
                <a:ea typeface="Cambria"/>
                <a:cs typeface="Cambria"/>
                <a:sym typeface="Cambria"/>
              </a:rPr>
              <a:t>PDF reports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9"/>
          <p:cNvSpPr/>
          <p:nvPr/>
        </p:nvSpPr>
        <p:spPr>
          <a:xfrm>
            <a:off x="4919472" y="3730752"/>
            <a:ext cx="347472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645C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55645C"/>
                </a:solidFill>
                <a:latin typeface="Calibri"/>
                <a:ea typeface="Calibri"/>
                <a:cs typeface="Calibri"/>
                <a:sym typeface="Calibri"/>
              </a:rPr>
              <a:t>One-tap, shareable reports to hand your doctor or pharmacist.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9"/>
          <p:cNvSpPr/>
          <p:nvPr/>
        </p:nvSpPr>
        <p:spPr>
          <a:xfrm>
            <a:off x="2011680" y="4526280"/>
            <a:ext cx="5120640" cy="420624"/>
          </a:xfrm>
          <a:prstGeom prst="roundRect">
            <a:avLst>
              <a:gd fmla="val 50000" name="adj"/>
            </a:avLst>
          </a:prstGeom>
          <a:solidFill>
            <a:srgbClr val="D9EDE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08" name="Google Shape;208;p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2444814" y="4626864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209" name="Google Shape;209;p9"/>
          <p:cNvSpPr/>
          <p:nvPr/>
        </p:nvSpPr>
        <p:spPr>
          <a:xfrm>
            <a:off x="2828862" y="4590288"/>
            <a:ext cx="4236085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6E5C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1E6E5C"/>
                </a:solidFill>
                <a:latin typeface="Calibri"/>
                <a:ea typeface="Calibri"/>
                <a:cs typeface="Calibri"/>
                <a:sym typeface="Calibri"/>
              </a:rPr>
              <a:t>Consistency counts — streaks keep your care on track.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1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4EFE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" name="Google Shape;216;p10"/>
          <p:cNvSpPr/>
          <p:nvPr/>
        </p:nvSpPr>
        <p:spPr>
          <a:xfrm>
            <a:off x="502920" y="365760"/>
            <a:ext cx="81381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6E5C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E6E5C"/>
                </a:solidFill>
                <a:latin typeface="Calibri"/>
                <a:ea typeface="Calibri"/>
                <a:cs typeface="Calibri"/>
                <a:sym typeface="Calibri"/>
              </a:rPr>
              <a:t>FEATURE 06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10"/>
          <p:cNvSpPr/>
          <p:nvPr/>
        </p:nvSpPr>
        <p:spPr>
          <a:xfrm>
            <a:off x="502920" y="603504"/>
            <a:ext cx="74980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02B26"/>
              </a:buClr>
              <a:buSzPts val="2700"/>
              <a:buFont typeface="Cambria"/>
              <a:buNone/>
            </a:pPr>
            <a:r>
              <a:rPr b="1" i="0" lang="en-US" sz="2700" u="none" cap="none" strike="noStrike">
                <a:solidFill>
                  <a:srgbClr val="202B26"/>
                </a:solidFill>
                <a:latin typeface="Cambria"/>
                <a:ea typeface="Cambria"/>
                <a:cs typeface="Cambria"/>
                <a:sym typeface="Cambria"/>
              </a:rPr>
              <a:t>Answers on demand — 60 articles, 9 topics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10"/>
          <p:cNvSpPr/>
          <p:nvPr/>
        </p:nvSpPr>
        <p:spPr>
          <a:xfrm>
            <a:off x="8549640" y="411480"/>
            <a:ext cx="411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5645C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55645C"/>
                </a:solidFill>
                <a:latin typeface="Calibri"/>
                <a:ea typeface="Calibri"/>
                <a:cs typeface="Calibri"/>
                <a:sym typeface="Calibri"/>
              </a:rPr>
              <a:t>08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10"/>
          <p:cNvSpPr/>
          <p:nvPr/>
        </p:nvSpPr>
        <p:spPr>
          <a:xfrm>
            <a:off x="502920" y="1417320"/>
            <a:ext cx="3383280" cy="420624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13950">
            <a:solidFill>
              <a:srgbClr val="BFD3C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20" name="Google Shape;220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31520" y="1517904"/>
            <a:ext cx="219456" cy="219456"/>
          </a:xfrm>
          <a:prstGeom prst="rect">
            <a:avLst/>
          </a:prstGeom>
          <a:noFill/>
          <a:ln>
            <a:noFill/>
          </a:ln>
        </p:spPr>
      </p:pic>
      <p:sp>
        <p:nvSpPr>
          <p:cNvPr id="221" name="Google Shape;221;p10"/>
          <p:cNvSpPr/>
          <p:nvPr/>
        </p:nvSpPr>
        <p:spPr>
          <a:xfrm>
            <a:off x="1097280" y="1490472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645C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55645C"/>
                </a:solidFill>
                <a:latin typeface="Calibri"/>
                <a:ea typeface="Calibri"/>
                <a:cs typeface="Calibri"/>
                <a:sym typeface="Calibri"/>
              </a:rPr>
              <a:t>Search “itchy red patch”…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10"/>
          <p:cNvSpPr/>
          <p:nvPr/>
        </p:nvSpPr>
        <p:spPr>
          <a:xfrm>
            <a:off x="502920" y="2057400"/>
            <a:ext cx="27432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645C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55645C"/>
                </a:solidFill>
                <a:latin typeface="Calibri"/>
                <a:ea typeface="Calibri"/>
                <a:cs typeface="Calibri"/>
                <a:sym typeface="Calibri"/>
              </a:rPr>
              <a:t>BROWSE BY TOPIC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10"/>
          <p:cNvSpPr/>
          <p:nvPr/>
        </p:nvSpPr>
        <p:spPr>
          <a:xfrm>
            <a:off x="502920" y="2377440"/>
            <a:ext cx="1207008" cy="365760"/>
          </a:xfrm>
          <a:prstGeom prst="roundRect">
            <a:avLst>
              <a:gd fmla="val 50000" name="adj"/>
            </a:avLst>
          </a:prstGeom>
          <a:solidFill>
            <a:srgbClr val="1E6E5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" name="Google Shape;224;p10"/>
          <p:cNvSpPr/>
          <p:nvPr/>
        </p:nvSpPr>
        <p:spPr>
          <a:xfrm>
            <a:off x="502920" y="2450592"/>
            <a:ext cx="1207008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4EFE7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F4EFE7"/>
                </a:solidFill>
                <a:latin typeface="Calibri"/>
                <a:ea typeface="Calibri"/>
                <a:cs typeface="Calibri"/>
                <a:sym typeface="Calibri"/>
              </a:rPr>
              <a:t>Acne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10"/>
          <p:cNvSpPr/>
          <p:nvPr/>
        </p:nvSpPr>
        <p:spPr>
          <a:xfrm>
            <a:off x="1819656" y="2377440"/>
            <a:ext cx="1207008" cy="365760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13950">
            <a:solidFill>
              <a:srgbClr val="BFD3C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" name="Google Shape;226;p10"/>
          <p:cNvSpPr/>
          <p:nvPr/>
        </p:nvSpPr>
        <p:spPr>
          <a:xfrm>
            <a:off x="1819656" y="2450592"/>
            <a:ext cx="1207008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6E5C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1E6E5C"/>
                </a:solidFill>
                <a:latin typeface="Calibri"/>
                <a:ea typeface="Calibri"/>
                <a:cs typeface="Calibri"/>
                <a:sym typeface="Calibri"/>
              </a:rPr>
              <a:t>Eczema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10"/>
          <p:cNvSpPr/>
          <p:nvPr/>
        </p:nvSpPr>
        <p:spPr>
          <a:xfrm>
            <a:off x="3136392" y="2377440"/>
            <a:ext cx="1207008" cy="365760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13950">
            <a:solidFill>
              <a:srgbClr val="BFD3C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" name="Google Shape;228;p10"/>
          <p:cNvSpPr/>
          <p:nvPr/>
        </p:nvSpPr>
        <p:spPr>
          <a:xfrm>
            <a:off x="3136392" y="2450592"/>
            <a:ext cx="1207008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6E5C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1E6E5C"/>
                </a:solidFill>
                <a:latin typeface="Calibri"/>
                <a:ea typeface="Calibri"/>
                <a:cs typeface="Calibri"/>
                <a:sym typeface="Calibri"/>
              </a:rPr>
              <a:t>Psoriasis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10"/>
          <p:cNvSpPr/>
          <p:nvPr/>
        </p:nvSpPr>
        <p:spPr>
          <a:xfrm>
            <a:off x="502920" y="2852928"/>
            <a:ext cx="1207008" cy="365760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13950">
            <a:solidFill>
              <a:srgbClr val="BFD3C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" name="Google Shape;230;p10"/>
          <p:cNvSpPr/>
          <p:nvPr/>
        </p:nvSpPr>
        <p:spPr>
          <a:xfrm>
            <a:off x="502920" y="2926080"/>
            <a:ext cx="1207008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6E5C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1E6E5C"/>
                </a:solidFill>
                <a:latin typeface="Calibri"/>
                <a:ea typeface="Calibri"/>
                <a:cs typeface="Calibri"/>
                <a:sym typeface="Calibri"/>
              </a:rPr>
              <a:t>Moles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10"/>
          <p:cNvSpPr/>
          <p:nvPr/>
        </p:nvSpPr>
        <p:spPr>
          <a:xfrm>
            <a:off x="1819656" y="2852928"/>
            <a:ext cx="1207008" cy="365760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13950">
            <a:solidFill>
              <a:srgbClr val="BFD3C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p10"/>
          <p:cNvSpPr/>
          <p:nvPr/>
        </p:nvSpPr>
        <p:spPr>
          <a:xfrm>
            <a:off x="1819656" y="2926080"/>
            <a:ext cx="1207008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6E5C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1E6E5C"/>
                </a:solidFill>
                <a:latin typeface="Calibri"/>
                <a:ea typeface="Calibri"/>
                <a:cs typeface="Calibri"/>
                <a:sym typeface="Calibri"/>
              </a:rPr>
              <a:t>Sun safety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10"/>
          <p:cNvSpPr/>
          <p:nvPr/>
        </p:nvSpPr>
        <p:spPr>
          <a:xfrm>
            <a:off x="3136392" y="2852928"/>
            <a:ext cx="1207008" cy="365760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13950">
            <a:solidFill>
              <a:srgbClr val="BFD3C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" name="Google Shape;234;p10"/>
          <p:cNvSpPr/>
          <p:nvPr/>
        </p:nvSpPr>
        <p:spPr>
          <a:xfrm>
            <a:off x="3136392" y="2926080"/>
            <a:ext cx="1207008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6E5C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1E6E5C"/>
                </a:solidFill>
                <a:latin typeface="Calibri"/>
                <a:ea typeface="Calibri"/>
                <a:cs typeface="Calibri"/>
                <a:sym typeface="Calibri"/>
              </a:rPr>
              <a:t>Wounds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10"/>
          <p:cNvSpPr/>
          <p:nvPr/>
        </p:nvSpPr>
        <p:spPr>
          <a:xfrm>
            <a:off x="502920" y="3456432"/>
            <a:ext cx="38404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645C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55645C"/>
                </a:solidFill>
                <a:latin typeface="Calibri"/>
                <a:ea typeface="Calibri"/>
                <a:cs typeface="Calibri"/>
                <a:sym typeface="Calibri"/>
              </a:rPr>
              <a:t>Plain-language explanations, written with care and reviewed for safety.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10"/>
          <p:cNvSpPr/>
          <p:nvPr/>
        </p:nvSpPr>
        <p:spPr>
          <a:xfrm>
            <a:off x="4617720" y="1417320"/>
            <a:ext cx="4023360" cy="3154680"/>
          </a:xfrm>
          <a:prstGeom prst="roundRect">
            <a:avLst>
              <a:gd fmla="val 3478" name="adj"/>
            </a:avLst>
          </a:prstGeom>
          <a:solidFill>
            <a:srgbClr val="FFFFFF"/>
          </a:solidFill>
          <a:ln>
            <a:noFill/>
          </a:ln>
          <a:effectLst>
            <a:outerShdw blurRad="127000" rotWithShape="0" algn="bl" dir="5400000" dist="50800">
              <a:srgbClr val="C4BAA8">
                <a:alpha val="3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" name="Google Shape;237;p10"/>
          <p:cNvSpPr/>
          <p:nvPr/>
        </p:nvSpPr>
        <p:spPr>
          <a:xfrm>
            <a:off x="4864608" y="1691640"/>
            <a:ext cx="365760" cy="365760"/>
          </a:xfrm>
          <a:prstGeom prst="ellipse">
            <a:avLst/>
          </a:prstGeom>
          <a:solidFill>
            <a:srgbClr val="1E6E5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38" name="Google Shape;238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934102" y="1761134"/>
            <a:ext cx="226771" cy="226771"/>
          </a:xfrm>
          <a:prstGeom prst="rect">
            <a:avLst/>
          </a:prstGeom>
          <a:noFill/>
          <a:ln>
            <a:noFill/>
          </a:ln>
        </p:spPr>
      </p:pic>
      <p:sp>
        <p:nvSpPr>
          <p:cNvPr id="239" name="Google Shape;239;p10"/>
          <p:cNvSpPr/>
          <p:nvPr/>
        </p:nvSpPr>
        <p:spPr>
          <a:xfrm>
            <a:off x="5367528" y="1737360"/>
            <a:ext cx="27432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645C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55645C"/>
                </a:solidFill>
                <a:latin typeface="Calibri"/>
                <a:ea typeface="Calibri"/>
                <a:cs typeface="Calibri"/>
                <a:sym typeface="Calibri"/>
              </a:rPr>
              <a:t>SAMPLE ARTICLE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10"/>
          <p:cNvSpPr/>
          <p:nvPr/>
        </p:nvSpPr>
        <p:spPr>
          <a:xfrm>
            <a:off x="4864608" y="2212848"/>
            <a:ext cx="356616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02B26"/>
              </a:buClr>
              <a:buSzPts val="1500"/>
              <a:buFont typeface="Cambria"/>
              <a:buNone/>
            </a:pPr>
            <a:r>
              <a:rPr b="1" i="0" lang="en-US" sz="1500" u="none" cap="none" strike="noStrike">
                <a:solidFill>
                  <a:srgbClr val="202B26"/>
                </a:solidFill>
                <a:latin typeface="Cambria"/>
                <a:ea typeface="Cambria"/>
                <a:cs typeface="Cambria"/>
                <a:sym typeface="Cambria"/>
              </a:rPr>
              <a:t>Is that mole something to worry about?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10"/>
          <p:cNvSpPr/>
          <p:nvPr/>
        </p:nvSpPr>
        <p:spPr>
          <a:xfrm>
            <a:off x="4864608" y="2971800"/>
            <a:ext cx="3566160" cy="12344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645C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55645C"/>
                </a:solidFill>
                <a:latin typeface="Calibri"/>
                <a:ea typeface="Calibri"/>
                <a:cs typeface="Calibri"/>
                <a:sym typeface="Calibri"/>
              </a:rPr>
              <a:t>Most moles are harmless. The ABCDE rule — Asymmetry, Border, Colour, Diameter, Evolving — flags features that deserve a professional look. DermoAI checks these on your scans.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10"/>
          <p:cNvSpPr/>
          <p:nvPr/>
        </p:nvSpPr>
        <p:spPr>
          <a:xfrm>
            <a:off x="4864608" y="4224528"/>
            <a:ext cx="1554480" cy="274320"/>
          </a:xfrm>
          <a:prstGeom prst="roundRect">
            <a:avLst>
              <a:gd fmla="val 50000" name="adj"/>
            </a:avLst>
          </a:prstGeom>
          <a:solidFill>
            <a:srgbClr val="D9EDE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3" name="Google Shape;243;p10"/>
          <p:cNvSpPr/>
          <p:nvPr/>
        </p:nvSpPr>
        <p:spPr>
          <a:xfrm>
            <a:off x="4864608" y="4270248"/>
            <a:ext cx="155448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6E5C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1E6E5C"/>
                </a:solidFill>
                <a:latin typeface="Calibri"/>
                <a:ea typeface="Calibri"/>
                <a:cs typeface="Calibri"/>
                <a:sym typeface="Calibri"/>
              </a:rPr>
              <a:t>SAFETY-REVIEWED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1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23F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" name="Google Shape;250;p11"/>
          <p:cNvSpPr/>
          <p:nvPr/>
        </p:nvSpPr>
        <p:spPr>
          <a:xfrm>
            <a:off x="4361688" y="914400"/>
            <a:ext cx="420624" cy="420624"/>
          </a:xfrm>
          <a:prstGeom prst="ellipse">
            <a:avLst/>
          </a:prstGeom>
          <a:solidFill>
            <a:srgbClr val="1E6E5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51" name="Google Shape;251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441607" y="994319"/>
            <a:ext cx="260787" cy="260787"/>
          </a:xfrm>
          <a:prstGeom prst="rect">
            <a:avLst/>
          </a:prstGeom>
          <a:noFill/>
          <a:ln>
            <a:noFill/>
          </a:ln>
        </p:spPr>
      </p:pic>
      <p:sp>
        <p:nvSpPr>
          <p:cNvPr id="252" name="Google Shape;252;p11"/>
          <p:cNvSpPr/>
          <p:nvPr/>
        </p:nvSpPr>
        <p:spPr>
          <a:xfrm>
            <a:off x="0" y="1600200"/>
            <a:ext cx="9144000" cy="868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4EFE7"/>
              </a:buClr>
              <a:buSzPts val="4000"/>
              <a:buFont typeface="Cambria"/>
              <a:buNone/>
            </a:pPr>
            <a:r>
              <a:rPr b="1" i="0" lang="en-US" sz="4000" u="none" cap="none" strike="noStrike">
                <a:solidFill>
                  <a:srgbClr val="F4EFE7"/>
                </a:solidFill>
                <a:latin typeface="Cambria"/>
                <a:ea typeface="Cambria"/>
                <a:cs typeface="Cambria"/>
                <a:sym typeface="Cambria"/>
              </a:rPr>
              <a:t>Your skin, understood.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11"/>
          <p:cNvSpPr/>
          <p:nvPr/>
        </p:nvSpPr>
        <p:spPr>
          <a:xfrm>
            <a:off x="457200" y="2606040"/>
            <a:ext cx="82296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8DBD2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C8DBD2"/>
                </a:solidFill>
                <a:latin typeface="Calibri"/>
                <a:ea typeface="Calibri"/>
                <a:cs typeface="Calibri"/>
                <a:sym typeface="Calibri"/>
              </a:rPr>
              <a:t>AI skin analysis, safety-first guidance, and a dermatologist in your pocket.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11"/>
          <p:cNvSpPr/>
          <p:nvPr/>
        </p:nvSpPr>
        <p:spPr>
          <a:xfrm>
            <a:off x="2537460" y="3429000"/>
            <a:ext cx="1554480" cy="457200"/>
          </a:xfrm>
          <a:prstGeom prst="roundRect">
            <a:avLst>
              <a:gd fmla="val 50000" name="adj"/>
            </a:avLst>
          </a:prstGeom>
          <a:solidFill>
            <a:srgbClr val="1E6E5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5" name="Google Shape;255;p11"/>
          <p:cNvSpPr/>
          <p:nvPr/>
        </p:nvSpPr>
        <p:spPr>
          <a:xfrm>
            <a:off x="2537460" y="3529584"/>
            <a:ext cx="1554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4EFE7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F4EFE7"/>
                </a:solidFill>
                <a:latin typeface="Calibri"/>
                <a:ea typeface="Calibri"/>
                <a:cs typeface="Calibri"/>
                <a:sym typeface="Calibri"/>
              </a:rPr>
              <a:t>Get DermoAI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11"/>
          <p:cNvSpPr/>
          <p:nvPr/>
        </p:nvSpPr>
        <p:spPr>
          <a:xfrm>
            <a:off x="4366260" y="3429000"/>
            <a:ext cx="2240280" cy="457200"/>
          </a:xfrm>
          <a:prstGeom prst="roundRect">
            <a:avLst>
              <a:gd fmla="val 50000" name="adj"/>
            </a:avLst>
          </a:prstGeom>
          <a:solidFill>
            <a:srgbClr val="FFFFFF">
              <a:alpha val="0"/>
            </a:srgbClr>
          </a:solidFill>
          <a:ln cap="flat" cmpd="sng" w="13950">
            <a:solidFill>
              <a:srgbClr val="C8DBD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7" name="Google Shape;257;p11"/>
          <p:cNvSpPr/>
          <p:nvPr/>
        </p:nvSpPr>
        <p:spPr>
          <a:xfrm>
            <a:off x="4366260" y="3529584"/>
            <a:ext cx="22402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8DBD2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C8DBD2"/>
                </a:solidFill>
                <a:latin typeface="Calibri"/>
                <a:ea typeface="Calibri"/>
                <a:cs typeface="Calibri"/>
                <a:sym typeface="Calibri"/>
              </a:rPr>
              <a:t>Open source on GitHub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11"/>
          <p:cNvSpPr/>
          <p:nvPr/>
        </p:nvSpPr>
        <p:spPr>
          <a:xfrm>
            <a:off x="457200" y="448056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F887E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6F887E"/>
                </a:solidFill>
                <a:latin typeface="Calibri"/>
                <a:ea typeface="Calibri"/>
                <a:cs typeface="Calibri"/>
                <a:sym typeface="Calibri"/>
              </a:rPr>
              <a:t>DermoAI is a screening aid, not a medical device — always consult a professional for a diagnosis.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