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the DermoAI pitch. DermoAI is an Android app that runs skin analysis on-device: private, instant, and offline. The aperture motif echoes the camera scan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DermoAI: skin concerns are common but expert access is slow and generic web advice is risky. DermoAI puts an on-device AI skin model, safety-first guidance, a local dermatologist finder, and progress tracking into one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1 — the core loop: capture a spot, analyze on-device, get a severity tier with a confidence score and plain-language guidance, always with a clear path to professional 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2 — the safety filter. A rule-based engine applies 8 escalate-or-annotate rules (ABCDE warning signs, sudden change, irregular borders). Concerned patterns get escalated loudly; nothing is ever downgraded. Flagged scans get a consult-a-dermatologist 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3 — the dermatologist finder. OpenStreetMap-based, no account needed. Tap a clinic to call or get directions. When a scan is flagged, a consult CTA appears directly on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4 — tracking. Timeline of every scan with photos and dates, step-by-step treatment plans with streak counters, analytics across scans, and one-tap shareable PDF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5 — mind and skin. SkinMind mood check-ins link feelings to skin, guided breathing sessions are capped and accessible, and a journal captures sleep, stress, and triggers beside the skin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6 — knowledge base. 60 plain-language articles across 9 topics, with instant search. Sample Q&amp;A: the ABCDE rule for moles, which DermoAI checks on scans.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DermoAI — your skin, understood. Screening aid, not a medical device; always consult a professional for a diagnosis.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3F33"/>
          </a:solidFill>
          <a:ln/>
        </p:spPr>
      </p:sp>
      <p:sp>
        <p:nvSpPr>
          <p:cNvPr id="4" name="Shape 1"/>
          <p:cNvSpPr/>
          <p:nvPr/>
        </p:nvSpPr>
        <p:spPr>
          <a:xfrm>
            <a:off x="5440680" y="1143000"/>
            <a:ext cx="3017520" cy="301752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274F4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897880" y="1600200"/>
            <a:ext cx="2103120" cy="21031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2F5B4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309360" y="2011680"/>
            <a:ext cx="1280160" cy="128016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C8DB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775704" y="2478024"/>
            <a:ext cx="347472" cy="347472"/>
          </a:xfrm>
          <a:prstGeom prst="ellipse">
            <a:avLst/>
          </a:prstGeom>
          <a:solidFill>
            <a:srgbClr val="C8DBD2"/>
          </a:solidFill>
          <a:ln/>
        </p:spPr>
      </p:sp>
      <p:sp>
        <p:nvSpPr>
          <p:cNvPr id="8" name="Shape 5"/>
          <p:cNvSpPr/>
          <p:nvPr/>
        </p:nvSpPr>
        <p:spPr>
          <a:xfrm>
            <a:off x="6858000" y="2560320"/>
            <a:ext cx="182880" cy="182880"/>
          </a:xfrm>
          <a:prstGeom prst="ellipse">
            <a:avLst/>
          </a:prstGeom>
          <a:solidFill>
            <a:srgbClr val="1E6E5C"/>
          </a:solidFill>
          <a:ln/>
        </p:spPr>
      </p:sp>
      <p:sp>
        <p:nvSpPr>
          <p:cNvPr id="9" name="Shape 6"/>
          <p:cNvSpPr/>
          <p:nvPr/>
        </p:nvSpPr>
        <p:spPr>
          <a:xfrm>
            <a:off x="502920" y="457200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13970">
            <a:solidFill>
              <a:srgbClr val="3E6B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2120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C8DB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KOTLIN · ON-DEVICE AI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02920" y="16916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0" b="1" dirty="0">
                <a:solidFill>
                  <a:srgbClr val="F4EF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DermoAI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502920" y="27432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C8DB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skin, understood.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502920" y="3401568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8B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skin analysis, safety-first guidance, and a dermatologist in your pocket — private, instant, and offline.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02920" y="4709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F88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· OPEN SOURCE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7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· WHY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care shouldn’t be guesswork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8549640" y="4114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9776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600200"/>
            <a:ext cx="384048" cy="384048"/>
          </a:xfrm>
          <a:prstGeom prst="ellipse">
            <a:avLst/>
          </a:prstGeom>
          <a:solidFill>
            <a:srgbClr val="E0704F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209" y="1673169"/>
            <a:ext cx="238110" cy="23811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98448" y="16276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777240" y="2212848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07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3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2194560" y="2240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us will face a skin concern that deserves expert eyes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77240" y="314553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07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Weeks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2194560" y="317296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waiting to see a dermatologist, in many regions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77240" y="407822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070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Risky</a:t>
            </a:r>
            <a:endParaRPr lang="en-US" sz="2100" dirty="0"/>
          </a:p>
        </p:txBody>
      </p:sp>
      <p:sp>
        <p:nvSpPr>
          <p:cNvPr id="16" name="Text 12"/>
          <p:cNvSpPr/>
          <p:nvPr/>
        </p:nvSpPr>
        <p:spPr>
          <a:xfrm>
            <a:off x="2194560" y="4105656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self-diagnosis — generic web answers can mislead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663440" y="1325880"/>
            <a:ext cx="3977640" cy="3246120"/>
          </a:xfrm>
          <a:prstGeom prst="roundRect">
            <a:avLst>
              <a:gd name="adj" fmla="val 3380"/>
            </a:avLst>
          </a:prstGeom>
          <a:solidFill>
            <a:srgbClr val="D9EDE4"/>
          </a:solidFill>
          <a:ln/>
          <a:effectLst>
            <a:outerShdw sx="100000" sy="100000" kx="0" ky="0" algn="bl" rotWithShape="0" blurRad="177800" dist="76200" dir="5400000">
              <a:srgbClr val="B5AA96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937760" y="1600200"/>
            <a:ext cx="384048" cy="384048"/>
          </a:xfrm>
          <a:prstGeom prst="ellipse">
            <a:avLst/>
          </a:prstGeom>
          <a:solidFill>
            <a:srgbClr val="1E6E5C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729" y="1673169"/>
            <a:ext cx="238110" cy="23811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458968" y="1627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— DermoAI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4937760" y="2121408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0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your phone at a skin spot. DermoAI runs a skin model on-device, explains what it sees in plain language, and tells you when to see a professional — private, instant, offline.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937760" y="3081528"/>
            <a:ext cx="118872" cy="118872"/>
          </a:xfrm>
          <a:prstGeom prst="ellipse">
            <a:avLst/>
          </a:prstGeom>
          <a:solidFill>
            <a:srgbClr val="1E6E5C"/>
          </a:solidFill>
          <a:ln/>
        </p:spPr>
      </p:sp>
      <p:sp>
        <p:nvSpPr>
          <p:cNvPr id="23" name="Text 18"/>
          <p:cNvSpPr/>
          <p:nvPr/>
        </p:nvSpPr>
        <p:spPr>
          <a:xfrm>
            <a:off x="5175504" y="29992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AI — works fully offline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4937760" y="3465576"/>
            <a:ext cx="118872" cy="118872"/>
          </a:xfrm>
          <a:prstGeom prst="ellipse">
            <a:avLst/>
          </a:prstGeom>
          <a:solidFill>
            <a:srgbClr val="1E6E5C"/>
          </a:solidFill>
          <a:ln/>
        </p:spPr>
      </p:sp>
      <p:sp>
        <p:nvSpPr>
          <p:cNvPr id="25" name="Text 20"/>
          <p:cNvSpPr/>
          <p:nvPr/>
        </p:nvSpPr>
        <p:spPr>
          <a:xfrm>
            <a:off x="5175504" y="3383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Safety-first guidance, never alarmist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4937760" y="3849624"/>
            <a:ext cx="118872" cy="118872"/>
          </a:xfrm>
          <a:prstGeom prst="ellipse">
            <a:avLst/>
          </a:prstGeom>
          <a:solidFill>
            <a:srgbClr val="1E6E5C"/>
          </a:solidFill>
          <a:ln/>
        </p:spPr>
      </p:sp>
      <p:sp>
        <p:nvSpPr>
          <p:cNvPr id="27" name="Text 22"/>
          <p:cNvSpPr/>
          <p:nvPr/>
        </p:nvSpPr>
        <p:spPr>
          <a:xfrm>
            <a:off x="5175504" y="37673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dermatologist finder built in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37760" y="4233672"/>
            <a:ext cx="118872" cy="118872"/>
          </a:xfrm>
          <a:prstGeom prst="ellipse">
            <a:avLst/>
          </a:prstGeom>
          <a:solidFill>
            <a:srgbClr val="1E6E5C"/>
          </a:solidFill>
          <a:ln/>
        </p:spPr>
      </p:sp>
      <p:sp>
        <p:nvSpPr>
          <p:cNvPr id="29" name="Text 24"/>
          <p:cNvSpPr/>
          <p:nvPr/>
        </p:nvSpPr>
        <p:spPr>
          <a:xfrm>
            <a:off x="5175504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0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progress over time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1371600" y="46908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screening aid, not a diagnosis — built for awareness and faster care.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7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Point. Scan. Understand your skin.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8549640" y="4114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490472"/>
            <a:ext cx="457200" cy="457200"/>
          </a:xfrm>
          <a:prstGeom prst="ellipse">
            <a:avLst/>
          </a:prstGeom>
          <a:solidFill>
            <a:srgbClr val="1E6E5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157276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143000" y="14447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143000" y="1746504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or gallery, with thoughtful framing and a gentle crop flow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2322576"/>
            <a:ext cx="457200" cy="457200"/>
          </a:xfrm>
          <a:prstGeom prst="ellipse">
            <a:avLst/>
          </a:prstGeom>
          <a:solidFill>
            <a:srgbClr val="1E6E5C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4048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22768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 on-device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43000" y="2578608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skin model scores the image privately — no internet needed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3154680"/>
            <a:ext cx="457200" cy="457200"/>
          </a:xfrm>
          <a:prstGeom prst="ellipse">
            <a:avLst/>
          </a:prstGeom>
          <a:solidFill>
            <a:srgbClr val="1E6E5C"/>
          </a:solidFill>
          <a:ln/>
        </p:spPr>
      </p:sp>
      <p:sp>
        <p:nvSpPr>
          <p:cNvPr id="16" name="Text 13"/>
          <p:cNvSpPr/>
          <p:nvPr/>
        </p:nvSpPr>
        <p:spPr>
          <a:xfrm>
            <a:off x="502920" y="323697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143000" y="3108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Severity tier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143000" y="3410712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Low, moderate, or high guidance with a confidence score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986784"/>
            <a:ext cx="457200" cy="457200"/>
          </a:xfrm>
          <a:prstGeom prst="ellipse">
            <a:avLst/>
          </a:prstGeom>
          <a:solidFill>
            <a:srgbClr val="1E6E5C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" y="406908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43000" y="39410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Plain-language summary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143000" y="4242816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condition, runner-up possibilities, and next steps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617720" y="1371600"/>
            <a:ext cx="402336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4892040" y="1609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SCAN RESULT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892040" y="1883664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7E2D8"/>
          </a:solidFill>
          <a:ln/>
        </p:spPr>
      </p:sp>
      <p:sp>
        <p:nvSpPr>
          <p:cNvPr id="26" name="Text 23"/>
          <p:cNvSpPr/>
          <p:nvPr/>
        </p:nvSpPr>
        <p:spPr>
          <a:xfrm>
            <a:off x="4892040" y="194767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64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537960" y="1947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0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confidence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4892040" y="2606040"/>
            <a:ext cx="3474720" cy="0"/>
          </a:xfrm>
          <a:prstGeom prst="line">
            <a:avLst/>
          </a:prstGeom>
          <a:noFill/>
          <a:ln w="12700">
            <a:solidFill>
              <a:srgbClr val="E3DCC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92040" y="27432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LIKELY IS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4892040" y="298094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Seborrheic keratosis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4892040" y="34564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POSSIBLE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892040" y="36758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0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Eczema · Psoriasis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92040" y="4133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aid — confirm with a professional before acting.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371600" y="46908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includes clear medical disclaimers and a clear path to professional care.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7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escalate — never to dismiss.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8549640" y="4114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39776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1E6E5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209" y="1718889"/>
            <a:ext cx="238110" cy="23811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98448" y="16733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safety filter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121408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0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rule-based engine reviews every scan against 8 escalate-or-annotate rules — ABCDE signs, sudden change, irregular borders, and more. Concerned patterns are escalated loudly; safe ones are annotated — never downplayed, never dismissed.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77240" y="3401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 CHECKED FOR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77240" y="3657600"/>
            <a:ext cx="1133856" cy="310896"/>
          </a:xfrm>
          <a:prstGeom prst="roundRect">
            <a:avLst>
              <a:gd name="adj" fmla="val 50000"/>
            </a:avLst>
          </a:prstGeom>
          <a:solidFill>
            <a:srgbClr val="D9EDE4"/>
          </a:solidFill>
          <a:ln/>
        </p:spPr>
      </p:sp>
      <p:sp>
        <p:nvSpPr>
          <p:cNvPr id="14" name="Text 10"/>
          <p:cNvSpPr/>
          <p:nvPr/>
        </p:nvSpPr>
        <p:spPr>
          <a:xfrm>
            <a:off x="777240" y="3739896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ABCDE signs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1993392" y="3657600"/>
            <a:ext cx="1133856" cy="310896"/>
          </a:xfrm>
          <a:prstGeom prst="roundRect">
            <a:avLst>
              <a:gd name="adj" fmla="val 50000"/>
            </a:avLst>
          </a:prstGeom>
          <a:solidFill>
            <a:srgbClr val="D9EDE4"/>
          </a:solidFill>
          <a:ln/>
        </p:spPr>
      </p:sp>
      <p:sp>
        <p:nvSpPr>
          <p:cNvPr id="16" name="Text 12"/>
          <p:cNvSpPr/>
          <p:nvPr/>
        </p:nvSpPr>
        <p:spPr>
          <a:xfrm>
            <a:off x="1993392" y="3739896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change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3209544" y="3657600"/>
            <a:ext cx="1133856" cy="310896"/>
          </a:xfrm>
          <a:prstGeom prst="roundRect">
            <a:avLst>
              <a:gd name="adj" fmla="val 50000"/>
            </a:avLst>
          </a:prstGeom>
          <a:solidFill>
            <a:srgbClr val="D9EDE4"/>
          </a:solidFill>
          <a:ln/>
        </p:spPr>
      </p:sp>
      <p:sp>
        <p:nvSpPr>
          <p:cNvPr id="18" name="Text 14"/>
          <p:cNvSpPr/>
          <p:nvPr/>
        </p:nvSpPr>
        <p:spPr>
          <a:xfrm>
            <a:off x="3209544" y="3739896"/>
            <a:ext cx="1133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borders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4617720" y="1371600"/>
            <a:ext cx="4023360" cy="850392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864608" y="1591056"/>
            <a:ext cx="402336" cy="402336"/>
          </a:xfrm>
          <a:prstGeom prst="ellipse">
            <a:avLst/>
          </a:prstGeom>
          <a:solidFill>
            <a:srgbClr val="E0704F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052" y="1667500"/>
            <a:ext cx="249448" cy="24944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440680" y="1463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Escalate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5440680" y="1773936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scans get a “consult a dermatologist” call-to-action right on the result.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4617720" y="2340864"/>
            <a:ext cx="4023360" cy="850392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864608" y="2560320"/>
            <a:ext cx="402336" cy="402336"/>
          </a:xfrm>
          <a:prstGeom prst="ellipse">
            <a:avLst/>
          </a:prstGeom>
          <a:solidFill>
            <a:srgbClr val="1E6E5C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1052" y="2636764"/>
            <a:ext cx="249448" cy="2494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440680" y="24323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Annotate</a:t>
            </a:r>
            <a:endParaRPr lang="en-US" sz="1350" dirty="0"/>
          </a:p>
        </p:txBody>
      </p:sp>
      <p:sp>
        <p:nvSpPr>
          <p:cNvPr id="28" name="Text 22"/>
          <p:cNvSpPr/>
          <p:nvPr/>
        </p:nvSpPr>
        <p:spPr>
          <a:xfrm>
            <a:off x="5440680" y="274320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adjustment is surfaced transparently — the reason is shown, not hidden.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4617720" y="3310128"/>
            <a:ext cx="4023360" cy="850392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4864608" y="3529584"/>
            <a:ext cx="402336" cy="402336"/>
          </a:xfrm>
          <a:prstGeom prst="ellipse">
            <a:avLst/>
          </a:prstGeom>
          <a:solidFill>
            <a:srgbClr val="55645C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1052" y="3606028"/>
            <a:ext cx="249448" cy="24944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440680" y="34015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downgrades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5440680" y="371246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only becomes more cautious — it never downplays a result.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1645920" y="4462272"/>
            <a:ext cx="5852160" cy="457200"/>
          </a:xfrm>
          <a:prstGeom prst="roundRect">
            <a:avLst>
              <a:gd name="adj" fmla="val 50000"/>
            </a:avLst>
          </a:prstGeom>
          <a:solidFill>
            <a:srgbClr val="D9EDE4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7195" y="4535424"/>
            <a:ext cx="310896" cy="310896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2052955" y="4535424"/>
            <a:ext cx="5678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a scan? The finder suggests a dermatologist nearby — one tap away.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7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“What is this?” → “Who do I see?”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8549640" y="4114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4206240" cy="3200400"/>
          </a:xfrm>
          <a:prstGeom prst="roundRect">
            <a:avLst>
              <a:gd name="adj" fmla="val 3429"/>
            </a:avLst>
          </a:prstGeom>
          <a:solidFill>
            <a:srgbClr val="D9EDE4"/>
          </a:solidFill>
          <a:ln/>
          <a:effectLst>
            <a:outerShdw sx="100000" sy="100000" kx="0" ky="0" algn="bl" rotWithShape="0" blurRad="177800" dist="76200" dir="5400000">
              <a:srgbClr val="B5AA96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15361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CLINICS · 12 FOUND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05840" y="1828800"/>
            <a:ext cx="0" cy="2651760"/>
          </a:xfrm>
          <a:prstGeom prst="line">
            <a:avLst/>
          </a:prstGeom>
          <a:noFill/>
          <a:ln w="9525">
            <a:solidFill>
              <a:srgbClr val="C6D8C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72768" y="1828800"/>
            <a:ext cx="0" cy="2651760"/>
          </a:xfrm>
          <a:prstGeom prst="line">
            <a:avLst/>
          </a:prstGeom>
          <a:noFill/>
          <a:ln w="9525">
            <a:solidFill>
              <a:srgbClr val="C6D8C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39696" y="1828800"/>
            <a:ext cx="0" cy="2651760"/>
          </a:xfrm>
          <a:prstGeom prst="line">
            <a:avLst/>
          </a:prstGeom>
          <a:noFill/>
          <a:ln w="9525">
            <a:solidFill>
              <a:srgbClr val="C6D8C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706624" y="1828800"/>
            <a:ext cx="0" cy="2651760"/>
          </a:xfrm>
          <a:prstGeom prst="line">
            <a:avLst/>
          </a:prstGeom>
          <a:noFill/>
          <a:ln w="9525">
            <a:solidFill>
              <a:srgbClr val="C6D8C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73552" y="1828800"/>
            <a:ext cx="0" cy="2651760"/>
          </a:xfrm>
          <a:prstGeom prst="line">
            <a:avLst/>
          </a:prstGeom>
          <a:noFill/>
          <a:ln w="9525">
            <a:solidFill>
              <a:srgbClr val="C6D8C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840480" y="1828800"/>
            <a:ext cx="0" cy="2651760"/>
          </a:xfrm>
          <a:prstGeom prst="line">
            <a:avLst/>
          </a:prstGeom>
          <a:noFill/>
          <a:ln w="9525">
            <a:solidFill>
              <a:srgbClr val="C6D8C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07408" y="1828800"/>
            <a:ext cx="0" cy="2651760"/>
          </a:xfrm>
          <a:prstGeom prst="line">
            <a:avLst/>
          </a:prstGeom>
          <a:noFill/>
          <a:ln w="9525">
            <a:solidFill>
              <a:srgbClr val="C6D8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1520" y="1965960"/>
            <a:ext cx="3749040" cy="0"/>
          </a:xfrm>
          <a:prstGeom prst="line">
            <a:avLst/>
          </a:prstGeom>
          <a:noFill/>
          <a:ln w="9525">
            <a:solidFill>
              <a:srgbClr val="C6D8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2532888"/>
            <a:ext cx="3749040" cy="0"/>
          </a:xfrm>
          <a:prstGeom prst="line">
            <a:avLst/>
          </a:prstGeom>
          <a:noFill/>
          <a:ln w="9525">
            <a:solidFill>
              <a:srgbClr val="C6D8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099816"/>
            <a:ext cx="3749040" cy="0"/>
          </a:xfrm>
          <a:prstGeom prst="line">
            <a:avLst/>
          </a:prstGeom>
          <a:noFill/>
          <a:ln w="9525">
            <a:solidFill>
              <a:srgbClr val="C6D8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1520" y="3666744"/>
            <a:ext cx="3749040" cy="0"/>
          </a:xfrm>
          <a:prstGeom prst="line">
            <a:avLst/>
          </a:prstGeom>
          <a:noFill/>
          <a:ln w="9525">
            <a:solidFill>
              <a:srgbClr val="C6D8C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4233672"/>
            <a:ext cx="3749040" cy="0"/>
          </a:xfrm>
          <a:prstGeom prst="line">
            <a:avLst/>
          </a:prstGeom>
          <a:noFill/>
          <a:ln w="9525">
            <a:solidFill>
              <a:srgbClr val="C6D8C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5800" y="2880360"/>
            <a:ext cx="3840480" cy="0"/>
          </a:xfrm>
          <a:prstGeom prst="line">
            <a:avLst/>
          </a:prstGeom>
          <a:noFill/>
          <a:ln w="63500">
            <a:solidFill>
              <a:srgbClr val="EDF3E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97480" y="1783080"/>
            <a:ext cx="0" cy="2743200"/>
          </a:xfrm>
          <a:prstGeom prst="line">
            <a:avLst/>
          </a:prstGeom>
          <a:noFill/>
          <a:ln w="50800">
            <a:solidFill>
              <a:srgbClr val="EDF3E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783080" y="2240280"/>
            <a:ext cx="292608" cy="292608"/>
          </a:xfrm>
          <a:prstGeom prst="ellipse">
            <a:avLst/>
          </a:prstGeom>
          <a:solidFill>
            <a:srgbClr val="1E6E5C"/>
          </a:solidFill>
          <a:ln/>
        </p:spPr>
      </p:sp>
      <p:sp>
        <p:nvSpPr>
          <p:cNvPr id="24" name="Shape 21"/>
          <p:cNvSpPr/>
          <p:nvPr/>
        </p:nvSpPr>
        <p:spPr>
          <a:xfrm>
            <a:off x="1883664" y="2340864"/>
            <a:ext cx="91440" cy="91440"/>
          </a:xfrm>
          <a:prstGeom prst="ellipse">
            <a:avLst/>
          </a:prstGeom>
          <a:solidFill>
            <a:srgbClr val="F4EFE7"/>
          </a:solidFill>
          <a:ln/>
        </p:spPr>
      </p:sp>
      <p:sp>
        <p:nvSpPr>
          <p:cNvPr id="25" name="Shape 22"/>
          <p:cNvSpPr/>
          <p:nvPr/>
        </p:nvSpPr>
        <p:spPr>
          <a:xfrm>
            <a:off x="3246120" y="3063240"/>
            <a:ext cx="292608" cy="292608"/>
          </a:xfrm>
          <a:prstGeom prst="ellipse">
            <a:avLst/>
          </a:prstGeom>
          <a:solidFill>
            <a:srgbClr val="1E6E5C"/>
          </a:solidFill>
          <a:ln/>
        </p:spPr>
      </p:sp>
      <p:sp>
        <p:nvSpPr>
          <p:cNvPr id="26" name="Shape 23"/>
          <p:cNvSpPr/>
          <p:nvPr/>
        </p:nvSpPr>
        <p:spPr>
          <a:xfrm>
            <a:off x="3346704" y="3163824"/>
            <a:ext cx="91440" cy="91440"/>
          </a:xfrm>
          <a:prstGeom prst="ellipse">
            <a:avLst/>
          </a:prstGeom>
          <a:solidFill>
            <a:srgbClr val="F4EFE7"/>
          </a:solidFill>
          <a:ln/>
        </p:spPr>
      </p:sp>
      <p:sp>
        <p:nvSpPr>
          <p:cNvPr id="27" name="Shape 24"/>
          <p:cNvSpPr/>
          <p:nvPr/>
        </p:nvSpPr>
        <p:spPr>
          <a:xfrm>
            <a:off x="2377440" y="3611880"/>
            <a:ext cx="292608" cy="292608"/>
          </a:xfrm>
          <a:prstGeom prst="ellipse">
            <a:avLst/>
          </a:prstGeom>
          <a:solidFill>
            <a:srgbClr val="1E6E5C"/>
          </a:solidFill>
          <a:ln/>
        </p:spPr>
      </p:sp>
      <p:sp>
        <p:nvSpPr>
          <p:cNvPr id="28" name="Shape 25"/>
          <p:cNvSpPr/>
          <p:nvPr/>
        </p:nvSpPr>
        <p:spPr>
          <a:xfrm>
            <a:off x="2478024" y="3712464"/>
            <a:ext cx="91440" cy="91440"/>
          </a:xfrm>
          <a:prstGeom prst="ellipse">
            <a:avLst/>
          </a:prstGeom>
          <a:solidFill>
            <a:srgbClr val="F4EFE7"/>
          </a:solidFill>
          <a:ln/>
        </p:spPr>
      </p:sp>
      <p:sp>
        <p:nvSpPr>
          <p:cNvPr id="29" name="Shape 26"/>
          <p:cNvSpPr/>
          <p:nvPr/>
        </p:nvSpPr>
        <p:spPr>
          <a:xfrm>
            <a:off x="3063240" y="2377440"/>
            <a:ext cx="384048" cy="384048"/>
          </a:xfrm>
          <a:prstGeom prst="ellipse">
            <a:avLst/>
          </a:prstGeom>
          <a:solidFill>
            <a:srgbClr val="E0704F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0" y="2514600"/>
            <a:ext cx="109728" cy="109728"/>
          </a:xfrm>
          <a:prstGeom prst="ellipse">
            <a:avLst/>
          </a:prstGeom>
          <a:solidFill>
            <a:srgbClr val="F4EFE7"/>
          </a:solidFill>
          <a:ln/>
        </p:spPr>
      </p:sp>
      <p:sp>
        <p:nvSpPr>
          <p:cNvPr id="31" name="Text 28"/>
          <p:cNvSpPr/>
          <p:nvPr/>
        </p:nvSpPr>
        <p:spPr>
          <a:xfrm>
            <a:off x="4892040" y="1389888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0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finder maps real dermatology clinics around you — powered by OpenStreetMap, no account needed. Tap a clinic to call or get directions.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892040" y="2286000"/>
            <a:ext cx="3749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5138928" y="2542032"/>
            <a:ext cx="146304" cy="146304"/>
          </a:xfrm>
          <a:prstGeom prst="ellipse">
            <a:avLst/>
          </a:prstGeom>
          <a:solidFill>
            <a:srgbClr val="1E6E5C"/>
          </a:solidFill>
          <a:ln/>
        </p:spPr>
      </p:sp>
      <p:sp>
        <p:nvSpPr>
          <p:cNvPr id="34" name="Text 31"/>
          <p:cNvSpPr/>
          <p:nvPr/>
        </p:nvSpPr>
        <p:spPr>
          <a:xfrm>
            <a:off x="5413248" y="2450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0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DermaCare Clinic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5413248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 mi · Open now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229600" y="2450592"/>
            <a:ext cx="329184" cy="329184"/>
          </a:xfrm>
          <a:prstGeom prst="ellipse">
            <a:avLst/>
          </a:prstGeom>
          <a:solidFill>
            <a:srgbClr val="1E6E5C"/>
          </a:solidFill>
          <a:ln/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92145" y="2513137"/>
            <a:ext cx="204094" cy="204094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5138928" y="3127248"/>
            <a:ext cx="3291840" cy="0"/>
          </a:xfrm>
          <a:prstGeom prst="line">
            <a:avLst/>
          </a:prstGeom>
          <a:noFill/>
          <a:ln w="12700">
            <a:solidFill>
              <a:srgbClr val="E3DCC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138928" y="3401568"/>
            <a:ext cx="146304" cy="146304"/>
          </a:xfrm>
          <a:prstGeom prst="ellipse">
            <a:avLst/>
          </a:prstGeom>
          <a:solidFill>
            <a:srgbClr val="1E6E5C"/>
          </a:solidFill>
          <a:ln/>
        </p:spPr>
      </p:sp>
      <p:sp>
        <p:nvSpPr>
          <p:cNvPr id="40" name="Text 36"/>
          <p:cNvSpPr/>
          <p:nvPr/>
        </p:nvSpPr>
        <p:spPr>
          <a:xfrm>
            <a:off x="5413248" y="3310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02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Skin &amp; Laser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13248" y="3584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 mi · Accepting new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8229600" y="3310128"/>
            <a:ext cx="329184" cy="329184"/>
          </a:xfrm>
          <a:prstGeom prst="ellipse">
            <a:avLst/>
          </a:prstGeom>
          <a:solidFill>
            <a:srgbClr val="1E6E5C"/>
          </a:solidFill>
          <a:ln/>
        </p:spPr>
      </p:sp>
      <p:pic>
        <p:nvPicPr>
          <p:cNvPr id="4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2145" y="3372673"/>
            <a:ext cx="204094" cy="204094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4892040" y="3950208"/>
            <a:ext cx="3749040" cy="566928"/>
          </a:xfrm>
          <a:prstGeom prst="roundRect">
            <a:avLst>
              <a:gd name="adj" fmla="val 50000"/>
            </a:avLst>
          </a:prstGeom>
          <a:solidFill>
            <a:srgbClr val="F7E2D8"/>
          </a:solidFill>
          <a:ln/>
        </p:spPr>
      </p:sp>
      <p:sp>
        <p:nvSpPr>
          <p:cNvPr id="45" name="Text 40"/>
          <p:cNvSpPr/>
          <p:nvPr/>
        </p:nvSpPr>
        <p:spPr>
          <a:xfrm>
            <a:off x="4892040" y="40233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4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scan? A “Consult a dermatologist” action appears right on the result.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7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your skin change — week by week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8549640" y="4114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3977640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04088" y="1554480"/>
            <a:ext cx="365760" cy="365760"/>
          </a:xfrm>
          <a:prstGeom prst="ellipse">
            <a:avLst/>
          </a:prstGeom>
          <a:solidFill>
            <a:srgbClr val="1E6E5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582" y="1623974"/>
            <a:ext cx="226771" cy="22677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5727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58952" y="202996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 saved with its photo and date — see how a spot evolves over time.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663440" y="1371600"/>
            <a:ext cx="3977640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864608" y="1554480"/>
            <a:ext cx="365760" cy="365760"/>
          </a:xfrm>
          <a:prstGeom prst="ellipse">
            <a:avLst/>
          </a:prstGeom>
          <a:solidFill>
            <a:srgbClr val="1E6E5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4102" y="1623974"/>
            <a:ext cx="226771" cy="22677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394960" y="15727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Treatment plans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4919472" y="2029968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plans with completions and a streak counter to stay consistent.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02920" y="3072384"/>
            <a:ext cx="3977640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04088" y="3255264"/>
            <a:ext cx="365760" cy="365760"/>
          </a:xfrm>
          <a:prstGeom prst="ellipse">
            <a:avLst/>
          </a:prstGeom>
          <a:solidFill>
            <a:srgbClr val="1E6E5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82" y="3324758"/>
            <a:ext cx="226771" cy="226771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34440" y="327355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758952" y="373075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across scans — severity, frequency, and progress at a glance.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4663440" y="3072384"/>
            <a:ext cx="3977640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864608" y="3255264"/>
            <a:ext cx="365760" cy="365760"/>
          </a:xfrm>
          <a:prstGeom prst="ellipse">
            <a:avLst/>
          </a:prstGeom>
          <a:solidFill>
            <a:srgbClr val="1E6E5C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102" y="3324758"/>
            <a:ext cx="226771" cy="226771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394960" y="327355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reports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4919472" y="373075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One-tap, shareable reports to hand your doctor or pharmacist.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2011680" y="4526280"/>
            <a:ext cx="5120640" cy="420624"/>
          </a:xfrm>
          <a:prstGeom prst="roundRect">
            <a:avLst>
              <a:gd name="adj" fmla="val 50000"/>
            </a:avLst>
          </a:prstGeom>
          <a:solidFill>
            <a:srgbClr val="D9EDE4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4814" y="4626864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2828862" y="4590288"/>
            <a:ext cx="42360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counts — streaks keep your care on track.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7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05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health is whole-body health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8549640" y="4114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2615184" cy="27432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581912" y="1645920"/>
            <a:ext cx="457200" cy="457200"/>
          </a:xfrm>
          <a:prstGeom prst="ellipse">
            <a:avLst/>
          </a:prstGeom>
          <a:solidFill>
            <a:srgbClr val="1E6E5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780" y="173278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02920" y="2267712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SkinMind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67512" y="274320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check-ins link how you feel to how your skin looks — stress shows up on skin.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3264408" y="1371600"/>
            <a:ext cx="2615184" cy="27432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343400" y="1645920"/>
            <a:ext cx="457200" cy="457200"/>
          </a:xfrm>
          <a:prstGeom prst="ellipse">
            <a:avLst/>
          </a:prstGeom>
          <a:solidFill>
            <a:srgbClr val="1E6E5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268" y="1732788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264408" y="2267712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Guided breathing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429000" y="274320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capped sessions (~80 s) that calm you — with accessible, live announcements.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025896" y="1371600"/>
            <a:ext cx="2615184" cy="274320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104888" y="1645920"/>
            <a:ext cx="457200" cy="457200"/>
          </a:xfrm>
          <a:prstGeom prst="ellipse">
            <a:avLst/>
          </a:prstGeom>
          <a:solidFill>
            <a:srgbClr val="1E6E5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1756" y="1732788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025896" y="2267712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Journal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6190488" y="274320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sleep, stress, and triggers beside your skin history for fuller context.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502920" y="44074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50" kern="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MOOD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5212080" y="4425696"/>
            <a:ext cx="237744" cy="237744"/>
          </a:xfrm>
          <a:prstGeom prst="ellipse">
            <a:avLst/>
          </a:prstGeom>
          <a:solidFill>
            <a:srgbClr val="F1B8A4"/>
          </a:solidFill>
          <a:ln/>
        </p:spPr>
      </p:sp>
      <p:sp>
        <p:nvSpPr>
          <p:cNvPr id="24" name="Shape 18"/>
          <p:cNvSpPr/>
          <p:nvPr/>
        </p:nvSpPr>
        <p:spPr>
          <a:xfrm>
            <a:off x="5596128" y="4425696"/>
            <a:ext cx="237744" cy="237744"/>
          </a:xfrm>
          <a:prstGeom prst="ellipse">
            <a:avLst/>
          </a:prstGeom>
          <a:solidFill>
            <a:srgbClr val="EAD9BC"/>
          </a:solidFill>
          <a:ln/>
        </p:spPr>
      </p:sp>
      <p:sp>
        <p:nvSpPr>
          <p:cNvPr id="25" name="Shape 19"/>
          <p:cNvSpPr/>
          <p:nvPr/>
        </p:nvSpPr>
        <p:spPr>
          <a:xfrm>
            <a:off x="5980176" y="4425696"/>
            <a:ext cx="237744" cy="237744"/>
          </a:xfrm>
          <a:prstGeom prst="ellipse">
            <a:avLst/>
          </a:prstGeom>
          <a:solidFill>
            <a:srgbClr val="CBDCD2"/>
          </a:solidFill>
          <a:ln/>
        </p:spPr>
      </p:sp>
      <p:sp>
        <p:nvSpPr>
          <p:cNvPr id="26" name="Shape 20"/>
          <p:cNvSpPr/>
          <p:nvPr/>
        </p:nvSpPr>
        <p:spPr>
          <a:xfrm>
            <a:off x="6364224" y="4425696"/>
            <a:ext cx="237744" cy="237744"/>
          </a:xfrm>
          <a:prstGeom prst="ellipse">
            <a:avLst/>
          </a:prstGeom>
          <a:solidFill>
            <a:srgbClr val="A8C9BA"/>
          </a:solidFill>
          <a:ln/>
        </p:spPr>
      </p:sp>
      <p:sp>
        <p:nvSpPr>
          <p:cNvPr id="27" name="Shape 21"/>
          <p:cNvSpPr/>
          <p:nvPr/>
        </p:nvSpPr>
        <p:spPr>
          <a:xfrm>
            <a:off x="6748272" y="4425696"/>
            <a:ext cx="237744" cy="237744"/>
          </a:xfrm>
          <a:prstGeom prst="ellipse">
            <a:avLst/>
          </a:prstGeom>
          <a:solidFill>
            <a:srgbClr val="1E6E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5120640" y="470001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50" dirty="0"/>
          </a:p>
        </p:txBody>
      </p:sp>
      <p:sp>
        <p:nvSpPr>
          <p:cNvPr id="29" name="Text 23"/>
          <p:cNvSpPr/>
          <p:nvPr/>
        </p:nvSpPr>
        <p:spPr>
          <a:xfrm>
            <a:off x="6629400" y="470001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7"/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06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60350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 on demand — 60 articles, 9 topics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8549640" y="4114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02920" y="1417320"/>
            <a:ext cx="338328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BFD3C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17904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97280" y="1490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“itchy red patch”…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02920" y="20574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BY TOPIC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02920" y="2377440"/>
            <a:ext cx="1207008" cy="365760"/>
          </a:xfrm>
          <a:prstGeom prst="roundRect">
            <a:avLst>
              <a:gd name="adj" fmla="val 50000"/>
            </a:avLst>
          </a:prstGeom>
          <a:solidFill>
            <a:srgbClr val="1E6E5C"/>
          </a:solidFill>
          <a:ln/>
        </p:spPr>
      </p:sp>
      <p:sp>
        <p:nvSpPr>
          <p:cNvPr id="12" name="Text 8"/>
          <p:cNvSpPr/>
          <p:nvPr/>
        </p:nvSpPr>
        <p:spPr>
          <a:xfrm>
            <a:off x="502920" y="2450592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4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Acne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1819656" y="2377440"/>
            <a:ext cx="1207008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BFD3C9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819656" y="2450592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Eczema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136392" y="2377440"/>
            <a:ext cx="1207008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BFD3C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136392" y="2450592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Psoriasis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02920" y="2852928"/>
            <a:ext cx="1207008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BFD3C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02920" y="292608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Moles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1819656" y="2852928"/>
            <a:ext cx="1207008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BFD3C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819656" y="292608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safety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3136392" y="2852928"/>
            <a:ext cx="1207008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BFD3C9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136392" y="292608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Wounds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502920" y="34564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explanations, written with care and reviewed for safety.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4617720" y="1417320"/>
            <a:ext cx="402336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C4BAA8">
                <a:alpha val="3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4864608" y="1691640"/>
            <a:ext cx="365760" cy="365760"/>
          </a:xfrm>
          <a:prstGeom prst="ellipse">
            <a:avLst/>
          </a:prstGeom>
          <a:solidFill>
            <a:srgbClr val="1E6E5C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4102" y="1761134"/>
            <a:ext cx="226771" cy="226771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5367528" y="1737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ARTICLE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4864608" y="2212848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02B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that mole something to worry about?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4864608" y="297180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56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moles are harmless. The ABCDE rule — Asymmetry, Border, Colour, Diameter, Evolving — flags features that deserve a professional look. DermoAI checks these on your scans.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4864608" y="4224528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D9EDE4"/>
          </a:solidFill>
          <a:ln/>
        </p:spPr>
      </p:sp>
      <p:sp>
        <p:nvSpPr>
          <p:cNvPr id="31" name="Text 26"/>
          <p:cNvSpPr/>
          <p:nvPr/>
        </p:nvSpPr>
        <p:spPr>
          <a:xfrm>
            <a:off x="4864608" y="42702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6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SAFETY-REVIEWED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3F33"/>
          </a:solidFill>
          <a:ln/>
        </p:spPr>
      </p:sp>
      <p:sp>
        <p:nvSpPr>
          <p:cNvPr id="4" name="Shape 1"/>
          <p:cNvSpPr/>
          <p:nvPr/>
        </p:nvSpPr>
        <p:spPr>
          <a:xfrm>
            <a:off x="4361688" y="914400"/>
            <a:ext cx="420624" cy="420624"/>
          </a:xfrm>
          <a:prstGeom prst="ellipse">
            <a:avLst/>
          </a:prstGeom>
          <a:solidFill>
            <a:srgbClr val="1E6E5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1607" y="994319"/>
            <a:ext cx="260787" cy="26078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0" y="160020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4EF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skin, understood.</a:t>
            </a:r>
            <a:endParaRPr lang="en-US" sz="4000" dirty="0"/>
          </a:p>
        </p:txBody>
      </p:sp>
      <p:sp>
        <p:nvSpPr>
          <p:cNvPr id="7" name="Text 3"/>
          <p:cNvSpPr/>
          <p:nvPr/>
        </p:nvSpPr>
        <p:spPr>
          <a:xfrm>
            <a:off x="457200" y="2606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DB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skin analysis, safety-first guidance, and a dermatologist in your pocket.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2537460" y="342900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E6E5C"/>
          </a:solidFill>
          <a:ln/>
        </p:spPr>
      </p:sp>
      <p:sp>
        <p:nvSpPr>
          <p:cNvPr id="9" name="Text 5"/>
          <p:cNvSpPr/>
          <p:nvPr/>
        </p:nvSpPr>
        <p:spPr>
          <a:xfrm>
            <a:off x="2537460" y="352958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4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DermoAI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66260" y="342900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13970">
            <a:solidFill>
              <a:srgbClr val="C8DBD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66260" y="352958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8DB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on GitHub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F88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DermoAI is a screening aid, not a medical device — always consult a professional for a diagnosis.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DermoAI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DermoAI — Pitch Deck</dc:title>
  <dc:subject>AI skin analysis, safety-first guidance, and a dermatologist in your pocket</dc:subject>
  <dc:creator>DermoAI</dc:creator>
  <cp:lastModifiedBy>DermoAI</cp:lastModifiedBy>
  <cp:revision>1</cp:revision>
  <dcterms:created xsi:type="dcterms:W3CDTF">2026-08-06T02:30:52Z</dcterms:created>
  <dcterms:modified xsi:type="dcterms:W3CDTF">2026-08-06T02:30:52Z</dcterms:modified>
</cp:coreProperties>
</file>