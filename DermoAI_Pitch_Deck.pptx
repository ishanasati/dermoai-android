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 to the DermoAI pitch. DermoAI is an Android app that runs skin analysis on-device: private, instant, and offline. The aperture motif echoes the camera scan experience.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DermoAI: skin concerns are common but expert access is slow and generic web advice is risky. DermoAI puts an on-device AI skin model, safety-first guidance, a local dermatologist finder, and progress tracking into one app.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1 — the core loop: capture a spot, analyze on-device, get a severity tier with a confidence score and plain-language guidance, always with a clear path to professional care.</a:t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3 — the dermatologist finder. OpenStreetMap-based, no account needed. Tap a clinic to call or get directions. When a scan is flagged, a consult CTA appears directly on the result.</a:t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4 — tracking. Timeline of every scan with photos and dates, step-by-step treatment plans with streak counters, analytics across scans, and one-tap shareable PDF reports.</a:t>
            </a:r>
            <a:endParaRPr/>
          </a:p>
        </p:txBody>
      </p:sp>
      <p:sp>
        <p:nvSpPr>
          <p:cNvPr id="149" name="Google Shape;1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6 — knowledge base. 60 plain-language articles across 9 topics, with instant search. Sample Q&amp;A: the ABCDE rule for moles, which DermoAI checks on scans.</a:t>
            </a:r>
            <a:endParaRPr/>
          </a:p>
        </p:txBody>
      </p:sp>
      <p:sp>
        <p:nvSpPr>
          <p:cNvPr id="181" name="Google Shape;1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Close. DermoAI — your skin, understood. Screening aid, not a medical device; always consult a professional for a diagnosis.</a:t>
            </a:r>
            <a:endParaRPr/>
          </a:p>
        </p:txBody>
      </p:sp>
      <p:sp>
        <p:nvSpPr>
          <p:cNvPr id="215" name="Google Shape;2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440680" y="1143000"/>
            <a:ext cx="3017520" cy="3017520"/>
          </a:xfrm>
          <a:prstGeom prst="ellipse">
            <a:avLst/>
          </a:prstGeom>
          <a:solidFill>
            <a:srgbClr val="FFFFFF">
              <a:alpha val="0"/>
            </a:srgbClr>
          </a:solidFill>
          <a:ln cap="flat" cmpd="sng" w="19050">
            <a:solidFill>
              <a:srgbClr val="274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897880" y="1600200"/>
            <a:ext cx="2103120" cy="2103120"/>
          </a:xfrm>
          <a:prstGeom prst="ellipse">
            <a:avLst/>
          </a:prstGeom>
          <a:solidFill>
            <a:srgbClr val="FFFFFF">
              <a:alpha val="0"/>
            </a:srgbClr>
          </a:solidFill>
          <a:ln cap="flat" cmpd="sng" w="15875">
            <a:solidFill>
              <a:srgbClr val="2F5B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309360" y="2011680"/>
            <a:ext cx="1280160" cy="1280160"/>
          </a:xfrm>
          <a:prstGeom prst="ellipse">
            <a:avLst/>
          </a:prstGeom>
          <a:solidFill>
            <a:srgbClr val="FFFFFF">
              <a:alpha val="0"/>
            </a:srgbClr>
          </a:solidFill>
          <a:ln cap="flat" cmpd="sng" w="15875">
            <a:solidFill>
              <a:srgbClr val="C8D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775704" y="2478024"/>
            <a:ext cx="347472" cy="347472"/>
          </a:xfrm>
          <a:prstGeom prst="ellipse">
            <a:avLst/>
          </a:prstGeom>
          <a:solidFill>
            <a:srgbClr val="C8DB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858000" y="2560320"/>
            <a:ext cx="182880" cy="18288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02920" y="457200"/>
            <a:ext cx="3017520" cy="329184"/>
          </a:xfrm>
          <a:prstGeom prst="roundRect">
            <a:avLst>
              <a:gd fmla="val 50000" name="adj"/>
            </a:avLst>
          </a:prstGeom>
          <a:solidFill>
            <a:srgbClr val="FFFFFF">
              <a:alpha val="0"/>
            </a:srgbClr>
          </a:solidFill>
          <a:ln cap="flat" cmpd="sng" w="13950">
            <a:solidFill>
              <a:srgbClr val="3E6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502920" y="521208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BD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8DBD2"/>
                </a:solidFill>
                <a:latin typeface="Calibri"/>
                <a:ea typeface="Calibri"/>
                <a:cs typeface="Calibri"/>
                <a:sym typeface="Calibri"/>
              </a:rPr>
              <a:t>ANDROID · KOTLIN · ON-DEVICE AI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02920" y="1691640"/>
            <a:ext cx="5943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5800"/>
              <a:buFont typeface="Cambria"/>
              <a:buNone/>
            </a:pPr>
            <a:r>
              <a:rPr b="1" i="0" lang="en-US" sz="5800" u="none" cap="none" strike="noStrike">
                <a:solidFill>
                  <a:srgbClr val="F4EFE7"/>
                </a:solidFill>
                <a:latin typeface="Cambria"/>
                <a:ea typeface="Cambria"/>
                <a:cs typeface="Cambria"/>
                <a:sym typeface="Cambria"/>
              </a:rPr>
              <a:t>DermoAI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02920" y="274320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BD2"/>
              </a:buClr>
              <a:buSzPts val="2100"/>
              <a:buFont typeface="Cambria"/>
              <a:buNone/>
            </a:pPr>
            <a:r>
              <a:rPr b="0" i="1" lang="en-US" sz="2100" u="none" cap="none" strike="noStrike">
                <a:solidFill>
                  <a:srgbClr val="C8DBD2"/>
                </a:solidFill>
                <a:latin typeface="Cambria"/>
                <a:ea typeface="Cambria"/>
                <a:cs typeface="Cambria"/>
                <a:sym typeface="Cambria"/>
              </a:rPr>
              <a:t>Your skin, understood.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02920" y="3401568"/>
            <a:ext cx="5760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8A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8B8AF"/>
                </a:solidFill>
                <a:latin typeface="Calibri"/>
                <a:ea typeface="Calibri"/>
                <a:cs typeface="Calibri"/>
                <a:sym typeface="Calibri"/>
              </a:rPr>
              <a:t>AI skin analysis, safety-first guidance, and a dermatologist in your pocket — private, instant, and offline.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02920" y="47091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887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F887E"/>
                </a:solidFill>
                <a:latin typeface="Calibri"/>
                <a:ea typeface="Calibri"/>
                <a:cs typeface="Calibri"/>
                <a:sym typeface="Calibri"/>
              </a:rPr>
              <a:t>PITCH DECK · OPEN SOURCE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ABOUT · WHY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20" y="603504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Skin care shouldn’t be guesswork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549640" y="4114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02920" y="1325880"/>
            <a:ext cx="3977640" cy="324612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777240" y="1600200"/>
            <a:ext cx="384048" cy="384048"/>
          </a:xfrm>
          <a:prstGeom prst="ellipse">
            <a:avLst/>
          </a:prstGeom>
          <a:solidFill>
            <a:srgbClr val="E070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209" y="1673169"/>
            <a:ext cx="238110" cy="23811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1298448" y="1627632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77240" y="2212848"/>
            <a:ext cx="1417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04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E0704F"/>
                </a:solidFill>
                <a:latin typeface="Cambria"/>
                <a:ea typeface="Cambria"/>
                <a:cs typeface="Cambria"/>
                <a:sym typeface="Cambria"/>
              </a:rPr>
              <a:t>1 in 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194560" y="224028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of us will face a skin concern that deserves expert eyes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77240" y="3145536"/>
            <a:ext cx="1417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04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E0704F"/>
                </a:solidFill>
                <a:latin typeface="Cambria"/>
                <a:ea typeface="Cambria"/>
                <a:cs typeface="Cambria"/>
                <a:sym typeface="Cambria"/>
              </a:rPr>
              <a:t>Weeks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194560" y="3172968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of waiting to see a dermatologist, in many regions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77240" y="4078224"/>
            <a:ext cx="1417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04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E0704F"/>
                </a:solidFill>
                <a:latin typeface="Cambria"/>
                <a:ea typeface="Cambria"/>
                <a:cs typeface="Cambria"/>
                <a:sym typeface="Cambria"/>
              </a:rPr>
              <a:t>Risky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2194560" y="4105656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self-diagnosis — generic web answers can mislead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663440" y="1325880"/>
            <a:ext cx="3977640" cy="3246120"/>
          </a:xfrm>
          <a:prstGeom prst="roundRect">
            <a:avLst>
              <a:gd fmla="val 3380" name="adj"/>
            </a:avLst>
          </a:prstGeom>
          <a:solidFill>
            <a:srgbClr val="D9EDE4"/>
          </a:solidFill>
          <a:ln>
            <a:noFill/>
          </a:ln>
          <a:effectLst>
            <a:outerShdw blurRad="177800" rotWithShape="0" algn="bl" dir="5400000" dist="76200">
              <a:srgbClr val="B5AA9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0729" y="1673169"/>
            <a:ext cx="238110" cy="23811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5458968" y="162763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The app — DermoAI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937760" y="2121408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Point your phone at a skin spot. DermoAI runs a skin model on-device, explains what it sees in plain language, and tells you when to see a professional — private, instant, offline.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937760" y="3081528"/>
            <a:ext cx="118872" cy="118872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175504" y="299923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On-device AI — works fully offline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937760" y="3465576"/>
            <a:ext cx="118872" cy="118872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5175504" y="33832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Safety-first guidance, never alarmist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937760" y="3849624"/>
            <a:ext cx="118872" cy="118872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5175504" y="376732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Local dermatologist finder built 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937760" y="4233672"/>
            <a:ext cx="118872" cy="118872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5175504" y="415137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Track progress over 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1371600" y="469087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A screening aid, not a diagnosis — built for awareness and faster care.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FEATURE 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02920" y="603504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Point. Scan. Understand your skin.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8549640" y="4114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02920" y="1490472"/>
            <a:ext cx="457200" cy="45720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502920" y="157276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143000" y="144475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Capture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143000" y="1746504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Camera or gallery, with thoughtful framing and a gentle crop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02920" y="2322576"/>
            <a:ext cx="457200" cy="45720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502920" y="2404872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143000" y="227685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Analyze on-device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143000" y="2578608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A skin model scores the image privately — no internet needed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02920" y="3154680"/>
            <a:ext cx="457200" cy="45720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02920" y="3236976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143000" y="3108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Severity tier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143000" y="3410712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Low, moderate, or high guidance with a confidence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02920" y="3986784"/>
            <a:ext cx="457200" cy="45720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02920" y="4069080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143000" y="394106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Plain-language summary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143000" y="4242816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Likely condition, runner-up possibilities, and 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617720" y="1371600"/>
            <a:ext cx="4023360" cy="3200400"/>
          </a:xfrm>
          <a:prstGeom prst="roundRect">
            <a:avLst>
              <a:gd fmla="val 3429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4892040" y="1609344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YOUR SCAN RESULT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892040" y="1883664"/>
            <a:ext cx="1417320" cy="384048"/>
          </a:xfrm>
          <a:prstGeom prst="roundRect">
            <a:avLst>
              <a:gd fmla="val 50000" name="adj"/>
            </a:avLst>
          </a:prstGeom>
          <a:solidFill>
            <a:srgbClr val="F7E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4892040" y="1947672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4B2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64B2C"/>
                </a:solidFill>
                <a:latin typeface="Calibri"/>
                <a:ea typeface="Calibri"/>
                <a:cs typeface="Calibri"/>
                <a:sym typeface="Calibri"/>
              </a:rPr>
              <a:t>MODERATE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537960" y="194767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87% confidence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5"/>
          <p:cNvCxnSpPr/>
          <p:nvPr/>
        </p:nvCxnSpPr>
        <p:spPr>
          <a:xfrm>
            <a:off x="4892040" y="2606040"/>
            <a:ext cx="3474720" cy="0"/>
          </a:xfrm>
          <a:prstGeom prst="straightConnector1">
            <a:avLst/>
          </a:prstGeom>
          <a:noFill/>
          <a:ln cap="flat" cmpd="sng" w="12700">
            <a:solidFill>
              <a:srgbClr val="E3DC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5"/>
          <p:cNvSpPr/>
          <p:nvPr/>
        </p:nvSpPr>
        <p:spPr>
          <a:xfrm>
            <a:off x="4892040" y="2743200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WHAT IT LIKELY 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892040" y="2980944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Seborrheic keratosis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892040" y="345643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ALSO POSSIBLE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892040" y="367588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Eczema · Psoriasis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892040" y="413308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Screening aid — confirm with a professional before acting.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371600" y="469087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Every result includes clear medical disclaimers and a clear path to professional care.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FEATURE 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02920" y="603504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“What is this?” → “Who do I see?”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8549640" y="4114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02920" y="1371600"/>
            <a:ext cx="4206240" cy="3200400"/>
          </a:xfrm>
          <a:prstGeom prst="roundRect">
            <a:avLst>
              <a:gd fmla="val 3429" name="adj"/>
            </a:avLst>
          </a:prstGeom>
          <a:solidFill>
            <a:srgbClr val="D9EDE4"/>
          </a:solidFill>
          <a:ln>
            <a:noFill/>
          </a:ln>
          <a:effectLst>
            <a:outerShdw blurRad="177800" rotWithShape="0" algn="bl" dir="5400000" dist="76200">
              <a:srgbClr val="B5AA9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777240" y="153619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NEARBY CLINICS · 12 FOUND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6"/>
          <p:cNvCxnSpPr/>
          <p:nvPr/>
        </p:nvCxnSpPr>
        <p:spPr>
          <a:xfrm>
            <a:off x="1005840" y="1828800"/>
            <a:ext cx="0" cy="265176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6"/>
          <p:cNvCxnSpPr/>
          <p:nvPr/>
        </p:nvCxnSpPr>
        <p:spPr>
          <a:xfrm>
            <a:off x="1572768" y="1828800"/>
            <a:ext cx="0" cy="265176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6"/>
          <p:cNvCxnSpPr/>
          <p:nvPr/>
        </p:nvCxnSpPr>
        <p:spPr>
          <a:xfrm>
            <a:off x="2139696" y="1828800"/>
            <a:ext cx="0" cy="265176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6"/>
          <p:cNvCxnSpPr/>
          <p:nvPr/>
        </p:nvCxnSpPr>
        <p:spPr>
          <a:xfrm>
            <a:off x="2706624" y="1828800"/>
            <a:ext cx="0" cy="265176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6"/>
          <p:cNvCxnSpPr/>
          <p:nvPr/>
        </p:nvCxnSpPr>
        <p:spPr>
          <a:xfrm>
            <a:off x="3273552" y="1828800"/>
            <a:ext cx="0" cy="265176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6"/>
          <p:cNvCxnSpPr/>
          <p:nvPr/>
        </p:nvCxnSpPr>
        <p:spPr>
          <a:xfrm>
            <a:off x="3840480" y="1828800"/>
            <a:ext cx="0" cy="265176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6"/>
          <p:cNvCxnSpPr/>
          <p:nvPr/>
        </p:nvCxnSpPr>
        <p:spPr>
          <a:xfrm>
            <a:off x="4407408" y="1828800"/>
            <a:ext cx="0" cy="265176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6"/>
          <p:cNvCxnSpPr/>
          <p:nvPr/>
        </p:nvCxnSpPr>
        <p:spPr>
          <a:xfrm>
            <a:off x="731520" y="1965960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6"/>
          <p:cNvCxnSpPr/>
          <p:nvPr/>
        </p:nvCxnSpPr>
        <p:spPr>
          <a:xfrm>
            <a:off x="731520" y="2532888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6"/>
          <p:cNvCxnSpPr/>
          <p:nvPr/>
        </p:nvCxnSpPr>
        <p:spPr>
          <a:xfrm>
            <a:off x="731520" y="3099816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6"/>
          <p:cNvCxnSpPr/>
          <p:nvPr/>
        </p:nvCxnSpPr>
        <p:spPr>
          <a:xfrm>
            <a:off x="731520" y="3666744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6"/>
          <p:cNvCxnSpPr/>
          <p:nvPr/>
        </p:nvCxnSpPr>
        <p:spPr>
          <a:xfrm>
            <a:off x="731520" y="4233672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6"/>
          <p:cNvCxnSpPr/>
          <p:nvPr/>
        </p:nvCxnSpPr>
        <p:spPr>
          <a:xfrm>
            <a:off x="685800" y="2880360"/>
            <a:ext cx="3840480" cy="0"/>
          </a:xfrm>
          <a:prstGeom prst="straightConnector1">
            <a:avLst/>
          </a:prstGeom>
          <a:noFill/>
          <a:ln cap="flat" cmpd="sng" w="63500">
            <a:solidFill>
              <a:srgbClr val="EDF3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6"/>
          <p:cNvCxnSpPr/>
          <p:nvPr/>
        </p:nvCxnSpPr>
        <p:spPr>
          <a:xfrm>
            <a:off x="2697480" y="1783080"/>
            <a:ext cx="0" cy="2743200"/>
          </a:xfrm>
          <a:prstGeom prst="straightConnector1">
            <a:avLst/>
          </a:prstGeom>
          <a:noFill/>
          <a:ln cap="flat" cmpd="sng" w="50800">
            <a:solidFill>
              <a:srgbClr val="EDF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6"/>
          <p:cNvSpPr/>
          <p:nvPr/>
        </p:nvSpPr>
        <p:spPr>
          <a:xfrm>
            <a:off x="1783080" y="2240280"/>
            <a:ext cx="292608" cy="292608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1883664" y="2340864"/>
            <a:ext cx="91440" cy="91440"/>
          </a:xfrm>
          <a:prstGeom prst="ellipse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3246120" y="3063240"/>
            <a:ext cx="292608" cy="292608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3346704" y="3163824"/>
            <a:ext cx="91440" cy="91440"/>
          </a:xfrm>
          <a:prstGeom prst="ellipse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2377440" y="3611880"/>
            <a:ext cx="292608" cy="292608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2478024" y="3712464"/>
            <a:ext cx="91440" cy="91440"/>
          </a:xfrm>
          <a:prstGeom prst="ellipse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3063240" y="2377440"/>
            <a:ext cx="384048" cy="384048"/>
          </a:xfrm>
          <a:prstGeom prst="ellipse">
            <a:avLst/>
          </a:prstGeom>
          <a:solidFill>
            <a:srgbClr val="E070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3200400" y="2514600"/>
            <a:ext cx="109728" cy="109728"/>
          </a:xfrm>
          <a:prstGeom prst="ellipse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4892040" y="1389888"/>
            <a:ext cx="3703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The finder maps real dermatology clinics around you — powered by OpenStreetMap, no account needed. Tap a clinic to call or get directions.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892040" y="2286000"/>
            <a:ext cx="374904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5138928" y="2542032"/>
            <a:ext cx="146304" cy="146304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5413248" y="245059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DermaCare Clinic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413248" y="2724912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0.4 mi · Open now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8229600" y="2450592"/>
            <a:ext cx="329184" cy="329184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2145" y="2513137"/>
            <a:ext cx="204094" cy="2040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6"/>
          <p:cNvCxnSpPr/>
          <p:nvPr/>
        </p:nvCxnSpPr>
        <p:spPr>
          <a:xfrm>
            <a:off x="5138928" y="3127248"/>
            <a:ext cx="3291840" cy="0"/>
          </a:xfrm>
          <a:prstGeom prst="straightConnector1">
            <a:avLst/>
          </a:prstGeom>
          <a:noFill/>
          <a:ln cap="flat" cmpd="sng" w="12700">
            <a:solidFill>
              <a:srgbClr val="E3DC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6"/>
          <p:cNvSpPr/>
          <p:nvPr/>
        </p:nvSpPr>
        <p:spPr>
          <a:xfrm>
            <a:off x="5138928" y="3401568"/>
            <a:ext cx="146304" cy="146304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5413248" y="33101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City Skin &amp; Laser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413248" y="3584448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0.9 mi · Accepting new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8229600" y="3310128"/>
            <a:ext cx="329184" cy="329184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2145" y="3372673"/>
            <a:ext cx="204094" cy="20409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4892040" y="3950208"/>
            <a:ext cx="3749040" cy="566928"/>
          </a:xfrm>
          <a:prstGeom prst="roundRect">
            <a:avLst>
              <a:gd fmla="val 50000" name="adj"/>
            </a:avLst>
          </a:prstGeom>
          <a:solidFill>
            <a:srgbClr val="F7E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4892040" y="4023360"/>
            <a:ext cx="3749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4B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64B2C"/>
                </a:solidFill>
                <a:latin typeface="Calibri"/>
                <a:ea typeface="Calibri"/>
                <a:cs typeface="Calibri"/>
                <a:sym typeface="Calibri"/>
              </a:rPr>
              <a:t>Flagged scan? A “Consult a dermatologist” action appears right on the result.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FEATURE 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02920" y="603504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Watch your skin change — week by week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549640" y="4114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02920" y="1371600"/>
            <a:ext cx="3977640" cy="1572768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704088" y="1554480"/>
            <a:ext cx="365760" cy="36576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582" y="1623974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/>
          <p:nvPr/>
        </p:nvSpPr>
        <p:spPr>
          <a:xfrm>
            <a:off x="1234440" y="1572768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Timeline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58952" y="202996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Every scan saved with its photo and date — see how a spot evolves over time.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663440" y="1371600"/>
            <a:ext cx="3977640" cy="1572768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4864608" y="1554480"/>
            <a:ext cx="365760" cy="36576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4102" y="1623974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5394960" y="1572768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Treatment plans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919472" y="202996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Step-by-step plans with completions and a streak counter to stay consistent.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02920" y="3072384"/>
            <a:ext cx="3977640" cy="1572768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704088" y="3255264"/>
            <a:ext cx="365760" cy="36576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3582" y="3324758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/>
          <p:nvPr/>
        </p:nvSpPr>
        <p:spPr>
          <a:xfrm>
            <a:off x="1234440" y="327355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Analytics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758952" y="3730752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Trends across scans — severity, frequency, and progress at a glance.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663440" y="3072384"/>
            <a:ext cx="3977640" cy="1572768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4864608" y="3255264"/>
            <a:ext cx="365760" cy="36576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4102" y="3324758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/>
          <p:nvPr/>
        </p:nvSpPr>
        <p:spPr>
          <a:xfrm>
            <a:off x="5394960" y="327355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PDF reports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919472" y="3730752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One-tap, shareable reports to hand your doctor or pharmacist.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2011680" y="4526280"/>
            <a:ext cx="5120640" cy="420624"/>
          </a:xfrm>
          <a:prstGeom prst="roundRect">
            <a:avLst>
              <a:gd fmla="val 50000" name="adj"/>
            </a:avLst>
          </a:prstGeom>
          <a:solidFill>
            <a:srgbClr val="D9ED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" name="Google Shape;17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44814" y="462686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2828862" y="4590288"/>
            <a:ext cx="423608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Consistency counts — streaks keep your care on track.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FEATURE 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02920" y="603504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Answers on demand — 60 articles, 9 topics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8549640" y="4114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02920" y="1417320"/>
            <a:ext cx="3383280" cy="42062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BFD3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5179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8"/>
          <p:cNvSpPr/>
          <p:nvPr/>
        </p:nvSpPr>
        <p:spPr>
          <a:xfrm>
            <a:off x="1097280" y="14904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Search “itchy red patch”…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02920" y="2057400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BROWSE BY TOPIC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502920" y="2377440"/>
            <a:ext cx="1207008" cy="365760"/>
          </a:xfrm>
          <a:prstGeom prst="roundRect">
            <a:avLst>
              <a:gd fmla="val 50000" name="adj"/>
            </a:avLst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502920" y="2450592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Acne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819656" y="2377440"/>
            <a:ext cx="1207008" cy="3657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BFD3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1819656" y="2450592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Eczema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3136392" y="2377440"/>
            <a:ext cx="1207008" cy="3657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BFD3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3136392" y="2450592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Psoriasis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02920" y="2852928"/>
            <a:ext cx="1207008" cy="3657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BFD3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502920" y="2926080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Moles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1819656" y="2852928"/>
            <a:ext cx="1207008" cy="3657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BFD3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1819656" y="2926080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Sun safety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3136392" y="2852928"/>
            <a:ext cx="1207008" cy="3657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BFD3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3136392" y="2926080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Wounds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502920" y="3456432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Plain-language explanations, written with care and reviewed for safety.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617720" y="1417320"/>
            <a:ext cx="402336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4864608" y="1691640"/>
            <a:ext cx="365760" cy="36576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4102" y="1761134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/>
          <p:nvPr/>
        </p:nvSpPr>
        <p:spPr>
          <a:xfrm>
            <a:off x="5367528" y="1737360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SAMPLE ARTICLE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864608" y="2212848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Is that mole something to worry about?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864608" y="2971800"/>
            <a:ext cx="3566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Most moles are harmless. The ABCDE rule — Asymmetry, Border, Colour, Diameter, Evolving — flags features that deserve a professional look. DermoAI checks these on your scans.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864608" y="4224528"/>
            <a:ext cx="1554480" cy="274320"/>
          </a:xfrm>
          <a:prstGeom prst="roundRect">
            <a:avLst>
              <a:gd fmla="val 50000" name="adj"/>
            </a:avLst>
          </a:prstGeom>
          <a:solidFill>
            <a:srgbClr val="D9ED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4864608" y="4270248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SAFETY-REVIEWED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4361688" y="914400"/>
            <a:ext cx="420624" cy="420624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1607" y="994319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9"/>
          <p:cNvSpPr/>
          <p:nvPr/>
        </p:nvSpPr>
        <p:spPr>
          <a:xfrm>
            <a:off x="0" y="1600200"/>
            <a:ext cx="9144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4EFE7"/>
                </a:solidFill>
                <a:latin typeface="Cambria"/>
                <a:ea typeface="Cambria"/>
                <a:cs typeface="Cambria"/>
                <a:sym typeface="Cambria"/>
              </a:rPr>
              <a:t>Your skin, understood.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BD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8DBD2"/>
                </a:solidFill>
                <a:latin typeface="Calibri"/>
                <a:ea typeface="Calibri"/>
                <a:cs typeface="Calibri"/>
                <a:sym typeface="Calibri"/>
              </a:rPr>
              <a:t>AI skin analysis, safety-first guidance, and a dermatologist in your pocket.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2537460" y="3429000"/>
            <a:ext cx="1554480" cy="457200"/>
          </a:xfrm>
          <a:prstGeom prst="roundRect">
            <a:avLst>
              <a:gd fmla="val 50000" name="adj"/>
            </a:avLst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2537460" y="3529584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Get DermoAI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366260" y="3429000"/>
            <a:ext cx="2240280" cy="457200"/>
          </a:xfrm>
          <a:prstGeom prst="roundRect">
            <a:avLst>
              <a:gd fmla="val 50000" name="adj"/>
            </a:avLst>
          </a:prstGeom>
          <a:solidFill>
            <a:srgbClr val="FFFFFF">
              <a:alpha val="0"/>
            </a:srgbClr>
          </a:solidFill>
          <a:ln cap="flat" cmpd="sng" w="13950">
            <a:solidFill>
              <a:srgbClr val="C8D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4366260" y="3529584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BD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8DBD2"/>
                </a:solidFill>
                <a:latin typeface="Calibri"/>
                <a:ea typeface="Calibri"/>
                <a:cs typeface="Calibri"/>
                <a:sym typeface="Calibri"/>
              </a:rPr>
              <a:t>Open source on GitHub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887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F887E"/>
                </a:solidFill>
                <a:latin typeface="Calibri"/>
                <a:ea typeface="Calibri"/>
                <a:cs typeface="Calibri"/>
                <a:sym typeface="Calibri"/>
              </a:rPr>
              <a:t>DermoAI is a screening aid, not a medical device — always consult a professional for a diagnosis.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