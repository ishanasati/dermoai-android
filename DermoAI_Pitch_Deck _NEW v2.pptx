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4" r:id="rId13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3" Type="http://schemas.openxmlformats.org/officeDocument/2006/relationships/slide" Target="slides/slide9.xml"/>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f682816b57_0_3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682816b57_0_3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f682816b57_0_3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f682816b5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682816b57_0_3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g3f682816b57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the DermoAI pitch. DermoAI is an Android app that runs skin analysis on-device: private, instant, and offline. The aperture motif echoes the camera scan experience.</a:t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DermoAI: skin concerns are common but expert access is slow and generic web advice is risky. DermoAI puts an on-device AI skin model, safety-first guidance, a local dermatologist finder, and progress tracking into one app.</a:t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1 — the core loop: capture a spot, analyze on-device, get a severity tier with a confidence score and plain-language guidance, always with a clear path to professional care.</a:t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3 — the dermatologist finder. OpenStreetMap-based, no account needed. Tap a clinic to call or get directions. When a scan is flagged, a consult CTA appears directly on the result.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4 — tracking. Timeline of every scan with photos and dates, step-by-step treatment plans with streak counters, analytics across scans, and one-tap shareable PDF reports.</a:t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6 — knowledge base. 60 plain-language articles across 9 topics, with instant search. Sample Q&amp;A: the ABCDE rule for moles, which DermoAI checks on scans.</a:t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Close. DermoAI — your skin, understood. Screening aid, not a medical device; always consult a professional for a diagnosis.</a:t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2 — the connected care ecosystem. DermoAI isn’t just an isolated diagnostic tool — it’s a bi-directional bridge connecting patients and dermatologists, enabling continuous, remote clinical monitoring while keeping patient consent at the center.</a:t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82816b57_11_0)">
  <p:cSld name="Generated (g3f682816b57_11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502920" y="365760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1100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THE SKIN CHALLENGE</a:t>
            </a:r>
            <a:endParaRPr b="1" sz="1100">
              <a:solidFill>
                <a:srgbClr val="1E6E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502920" y="603504"/>
            <a:ext cx="7498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2498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From urban pollutants to complex skin conditions</a:t>
            </a:r>
            <a:endParaRPr b="1" sz="2498">
              <a:solidFill>
                <a:srgbClr val="202B2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8549640" y="411480"/>
            <a:ext cx="41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450"/>
              </a:spcAft>
              <a:buNone/>
            </a:pPr>
            <a:r>
              <a:rPr b="1" lang="en-US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1100">
              <a:solidFill>
                <a:srgbClr val="5564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502920" y="1325880"/>
            <a:ext cx="3977700" cy="3246000"/>
            <a:chOff x="502920" y="1325880"/>
            <a:chExt cx="3977700" cy="3246000"/>
          </a:xfrm>
        </p:grpSpPr>
        <p:sp>
          <p:nvSpPr>
            <p:cNvPr id="25" name="Google Shape;25;p4"/>
            <p:cNvSpPr/>
            <p:nvPr/>
          </p:nvSpPr>
          <p:spPr>
            <a:xfrm>
              <a:off x="502920" y="1325880"/>
              <a:ext cx="3977700" cy="3246000"/>
            </a:xfrm>
            <a:prstGeom prst="roundRect">
              <a:avLst>
                <a:gd fmla="val 337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777240" y="1600200"/>
              <a:ext cx="384000" cy="384000"/>
            </a:xfrm>
            <a:prstGeom prst="ellipse">
              <a:avLst/>
            </a:prstGeom>
            <a:solidFill>
              <a:srgbClr val="E0704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 txBox="1"/>
            <p:nvPr/>
          </p:nvSpPr>
          <p:spPr>
            <a:xfrm>
              <a:off x="1298448" y="1627632"/>
              <a:ext cx="3017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700">
                  <a:solidFill>
                    <a:srgbClr val="202B26"/>
                  </a:solidFill>
                  <a:latin typeface="Cambria"/>
                  <a:ea typeface="Cambria"/>
                  <a:cs typeface="Cambria"/>
                  <a:sym typeface="Cambria"/>
                </a:rPr>
                <a:t>The Reality</a:t>
              </a:r>
              <a:endParaRPr b="1" sz="1700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28" name="Google Shape;28;p4"/>
            <p:cNvSpPr txBox="1"/>
            <p:nvPr/>
          </p:nvSpPr>
          <p:spPr>
            <a:xfrm>
              <a:off x="777240" y="2212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Pollution &amp; Blackheads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Smog and micro-particles clog pores daily, resulting in stubborn blackheads and localized inflammation.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"/>
            <p:cNvSpPr txBox="1"/>
            <p:nvPr/>
          </p:nvSpPr>
          <p:spPr>
            <a:xfrm>
              <a:off x="777240" y="2974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Common Skin Diseases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From acute acne flare-ups to chronic eczema and psoriasis, identifying the root issue is often a long process.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777240" y="3736848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0704F"/>
                  </a:solidFill>
                  <a:latin typeface="Cambria"/>
                  <a:ea typeface="Cambria"/>
                  <a:cs typeface="Cambria"/>
                  <a:sym typeface="Cambria"/>
                </a:rPr>
                <a:t>Self-Diagnosis Trap</a:t>
              </a:r>
              <a:endParaRPr b="1" sz="1400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645C"/>
                  </a:solidFill>
                  <a:latin typeface="Calibri"/>
                  <a:ea typeface="Calibri"/>
                  <a:cs typeface="Calibri"/>
                  <a:sym typeface="Calibri"/>
                </a:rPr>
                <a:t>Searching symptoms online leads to panic and generic remedies that can actively worsen your skin's health.</a:t>
              </a:r>
              <a:endParaRPr b="0" sz="110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4"/>
          <p:cNvGrpSpPr/>
          <p:nvPr/>
        </p:nvGrpSpPr>
        <p:grpSpPr>
          <a:xfrm>
            <a:off x="4663440" y="1325880"/>
            <a:ext cx="3977700" cy="3246000"/>
            <a:chOff x="4663440" y="1325880"/>
            <a:chExt cx="3977700" cy="3246000"/>
          </a:xfrm>
        </p:grpSpPr>
        <p:sp>
          <p:nvSpPr>
            <p:cNvPr id="32" name="Google Shape;32;p4"/>
            <p:cNvSpPr/>
            <p:nvPr/>
          </p:nvSpPr>
          <p:spPr>
            <a:xfrm>
              <a:off x="4663440" y="1325880"/>
              <a:ext cx="3977700" cy="3246000"/>
            </a:xfrm>
            <a:prstGeom prst="roundRect">
              <a:avLst>
                <a:gd fmla="val 3374" name="adj"/>
              </a:avLst>
            </a:prstGeom>
            <a:solidFill>
              <a:srgbClr val="D9ED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4937760" y="1600200"/>
              <a:ext cx="384000" cy="3840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5458968" y="1627632"/>
              <a:ext cx="3017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700">
                  <a:solidFill>
                    <a:srgbClr val="202B26"/>
                  </a:solidFill>
                  <a:latin typeface="Cambria"/>
                  <a:ea typeface="Cambria"/>
                  <a:cs typeface="Cambria"/>
                  <a:sym typeface="Cambria"/>
                </a:rPr>
                <a:t>The Smart Solution</a:t>
              </a:r>
              <a:endParaRPr b="1" sz="1700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4937760" y="2121408"/>
              <a:ext cx="3474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20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Instead of guessing, use DermoAI to understand your skin instantly. Run advanced model analysis entirely on-device to get immediate clarity and guided next steps.</a:t>
              </a:r>
              <a:endParaRPr b="0" sz="120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937760" y="3081528"/>
              <a:ext cx="118800" cy="1188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5175504" y="2999232"/>
              <a:ext cx="3291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5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Scan blackheads, acne, or spots instantly</a:t>
              </a:r>
              <a:endParaRPr b="0" sz="115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937760" y="3465576"/>
              <a:ext cx="118800" cy="118800"/>
            </a:xfrm>
            <a:prstGeom prst="ellipse">
              <a:avLst/>
            </a:prstGeom>
            <a:solidFill>
              <a:srgbClr val="1E6E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5175504" y="3383280"/>
              <a:ext cx="3291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0" lang="en-US" sz="1150">
                  <a:solidFill>
                    <a:srgbClr val="202B26"/>
                  </a:solidFill>
                  <a:latin typeface="Calibri"/>
                  <a:ea typeface="Calibri"/>
                  <a:cs typeface="Calibri"/>
                  <a:sym typeface="Calibri"/>
                </a:rPr>
                <a:t>Get clear, plain-language explanations</a:t>
              </a:r>
              <a:endParaRPr b="0" sz="1150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892040" y="3810000"/>
              <a:ext cx="3520500" cy="476400"/>
            </a:xfrm>
            <a:prstGeom prst="roundRect">
              <a:avLst>
                <a:gd fmla="val 50000" name="adj"/>
              </a:avLst>
            </a:prstGeom>
            <a:solidFill>
              <a:srgbClr val="F7E2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4892040" y="3943350"/>
              <a:ext cx="352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b="1" lang="en-US" sz="1100">
                  <a:solidFill>
                    <a:srgbClr val="A64B2C"/>
                  </a:solidFill>
                  <a:latin typeface="Calibri"/>
                  <a:ea typeface="Calibri"/>
                  <a:cs typeface="Calibri"/>
                  <a:sym typeface="Calibri"/>
                </a:rPr>
                <a:t>Scan &amp; Protect Your Skin with DermoAI</a:t>
              </a:r>
              <a:endParaRPr b="1" sz="1100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4"/>
          <p:cNvSpPr txBox="1"/>
          <p:nvPr/>
        </p:nvSpPr>
        <p:spPr>
          <a:xfrm>
            <a:off x="1371600" y="46908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50"/>
              </a:spcAft>
              <a:buNone/>
            </a:pPr>
            <a:r>
              <a:rPr b="0" i="1" lang="en-US" sz="1050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screening aid for better awareness, helping you take timely and correct actions.</a:t>
            </a:r>
            <a:endParaRPr b="0" i="1" sz="1050">
              <a:solidFill>
                <a:srgbClr val="5564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440680" y="1143000"/>
            <a:ext cx="3017520" cy="30175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274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897880" y="1600200"/>
            <a:ext cx="2103120" cy="210312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2F5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309360" y="201168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5875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775704" y="2478024"/>
            <a:ext cx="347472" cy="347472"/>
          </a:xfrm>
          <a:prstGeom prst="ellipse">
            <a:avLst/>
          </a:prstGeom>
          <a:solidFill>
            <a:srgbClr val="C8DB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858000" y="2560320"/>
            <a:ext cx="182880" cy="18288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02920" y="457200"/>
            <a:ext cx="3017520" cy="329184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3E6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02920" y="566908"/>
            <a:ext cx="301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ANDROID · KOTLIN · ON-DEVICE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2920" y="16916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DermoAI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02920" y="27432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C8DBD2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2920" y="3401568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8A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B8AF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 — private, instant, and offline.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47091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PITCH DECK · OPEN 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ABOUT · WHY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Skin care shouldn’t be guesswork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292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0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1298448" y="16276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777240" y="2212848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1 in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2194560" y="22402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us will face a skin concern that deserves expert eyes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777240" y="3145536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Weeks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194560" y="3172968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of waiting to see a dermatologist, in many regions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77240" y="4078224"/>
            <a:ext cx="1417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04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0704F"/>
                </a:solidFill>
                <a:latin typeface="Cambria"/>
                <a:ea typeface="Cambria"/>
                <a:cs typeface="Cambria"/>
                <a:sym typeface="Cambria"/>
              </a:rPr>
              <a:t>Risky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194560" y="4105656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self-diagnosis — generic web answers can mislead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663440" y="1325880"/>
            <a:ext cx="3977640" cy="3246120"/>
          </a:xfrm>
          <a:prstGeom prst="roundRect">
            <a:avLst>
              <a:gd fmla="val 3380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729" y="1673169"/>
            <a:ext cx="238110" cy="23811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5458968" y="162763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app — DermoAI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937760" y="2121408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Point your phone at a skin spot. DermoAI runs a skin model on-device, explains what it sees in plain language, and tells you when to see a professional — private, instant, offline.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937760" y="3081528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175504" y="29992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On-device AI — works fully offline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937760" y="3465576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175504" y="3383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Safety-first guidance, never alarmist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937760" y="3849624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175504" y="3767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Local dermatologist finder built 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937760" y="4233672"/>
            <a:ext cx="118872" cy="118872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175504" y="415137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Track progress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screening aid, not a diagnosis — built for awareness and faster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Point. Scan. Understand your skin.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02920" y="15727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143000" y="14447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143000" y="174650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Camera or gallery, with thoughtful framing and a gentle crop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2920" y="2322576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02920" y="2404872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143000" y="22768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Analyze on-device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43000" y="257860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skin model scores the image privately — no internet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02920" y="3236976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1430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Severity tier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43000" y="341071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Low, moderate, or high guidance with a confidence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02920" y="4069080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43000" y="3941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Plain-language summary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43000" y="424281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Likely condition, runner-up possibilities, and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617720" y="1371600"/>
            <a:ext cx="4023360" cy="32004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892040" y="160934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YOUR SCAN RESULT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892040" y="1883664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89204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537960" y="1947672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87% confidence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4892040" y="2606040"/>
            <a:ext cx="347472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>
            <a:off x="4892040" y="274320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WHAT IT LIKELY 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92040" y="298094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Seborrheic keratosis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892040" y="34564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ALSO POSSIBLE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92040" y="36758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Eczema · Psoriasis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92040" y="41330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Screening aid — confirm with a professional before acting.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371600" y="46908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result includes clear medical disclaimers and a clear path to professional care.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“What is this?” → “Who do I see?”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02920" y="1371600"/>
            <a:ext cx="4206240" cy="3200400"/>
          </a:xfrm>
          <a:prstGeom prst="roundRect">
            <a:avLst>
              <a:gd fmla="val 3429" name="adj"/>
            </a:avLst>
          </a:prstGeom>
          <a:solidFill>
            <a:srgbClr val="D9EDE4"/>
          </a:solidFill>
          <a:ln>
            <a:noFill/>
          </a:ln>
          <a:effectLst>
            <a:outerShdw blurRad="177800" rotWithShape="0" algn="bl" dir="5400000" dist="76200">
              <a:srgbClr val="B5AA9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77240" y="153619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NEARBY CLINICS · 12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100584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8"/>
          <p:cNvCxnSpPr/>
          <p:nvPr/>
        </p:nvCxnSpPr>
        <p:spPr>
          <a:xfrm>
            <a:off x="157276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8"/>
          <p:cNvCxnSpPr/>
          <p:nvPr/>
        </p:nvCxnSpPr>
        <p:spPr>
          <a:xfrm>
            <a:off x="2139696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8"/>
          <p:cNvCxnSpPr/>
          <p:nvPr/>
        </p:nvCxnSpPr>
        <p:spPr>
          <a:xfrm>
            <a:off x="2706624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8"/>
          <p:cNvCxnSpPr/>
          <p:nvPr/>
        </p:nvCxnSpPr>
        <p:spPr>
          <a:xfrm>
            <a:off x="3273552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8"/>
          <p:cNvCxnSpPr/>
          <p:nvPr/>
        </p:nvCxnSpPr>
        <p:spPr>
          <a:xfrm>
            <a:off x="3840480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8"/>
          <p:cNvCxnSpPr/>
          <p:nvPr/>
        </p:nvCxnSpPr>
        <p:spPr>
          <a:xfrm>
            <a:off x="4407408" y="1828800"/>
            <a:ext cx="0" cy="265176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8"/>
          <p:cNvCxnSpPr/>
          <p:nvPr/>
        </p:nvCxnSpPr>
        <p:spPr>
          <a:xfrm>
            <a:off x="731520" y="1965960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8"/>
          <p:cNvCxnSpPr/>
          <p:nvPr/>
        </p:nvCxnSpPr>
        <p:spPr>
          <a:xfrm>
            <a:off x="731520" y="2532888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8"/>
          <p:cNvCxnSpPr/>
          <p:nvPr/>
        </p:nvCxnSpPr>
        <p:spPr>
          <a:xfrm>
            <a:off x="731520" y="30998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8"/>
          <p:cNvCxnSpPr/>
          <p:nvPr/>
        </p:nvCxnSpPr>
        <p:spPr>
          <a:xfrm>
            <a:off x="731520" y="366674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/>
          <p:nvPr/>
        </p:nvCxnSpPr>
        <p:spPr>
          <a:xfrm>
            <a:off x="731520" y="4233672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C6D8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>
            <a:off x="685800" y="2880360"/>
            <a:ext cx="3840480" cy="0"/>
          </a:xfrm>
          <a:prstGeom prst="straightConnector1">
            <a:avLst/>
          </a:prstGeom>
          <a:noFill/>
          <a:ln cap="flat" cmpd="sng" w="635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8"/>
          <p:cNvCxnSpPr/>
          <p:nvPr/>
        </p:nvCxnSpPr>
        <p:spPr>
          <a:xfrm>
            <a:off x="2697480" y="1783080"/>
            <a:ext cx="0" cy="2743200"/>
          </a:xfrm>
          <a:prstGeom prst="straightConnector1">
            <a:avLst/>
          </a:prstGeom>
          <a:noFill/>
          <a:ln cap="flat" cmpd="sng" w="50800">
            <a:solidFill>
              <a:srgbClr val="EDF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8"/>
          <p:cNvSpPr/>
          <p:nvPr/>
        </p:nvSpPr>
        <p:spPr>
          <a:xfrm>
            <a:off x="1783080" y="22402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883664" y="23408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246120" y="306324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346704" y="316382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377440" y="3611880"/>
            <a:ext cx="292608" cy="292608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478024" y="3712464"/>
            <a:ext cx="91440" cy="91440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063240" y="2377440"/>
            <a:ext cx="384048" cy="384048"/>
          </a:xfrm>
          <a:prstGeom prst="ellipse">
            <a:avLst/>
          </a:prstGeom>
          <a:solidFill>
            <a:srgbClr val="E070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200400" y="2514600"/>
            <a:ext cx="109728" cy="109728"/>
          </a:xfrm>
          <a:prstGeom prst="ellipse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892040" y="1389888"/>
            <a:ext cx="370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The finder maps real dermatology clinics around you — powered by OpenStreetMap, no account needed. Tap a clinic to call or get directions.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92040" y="2286000"/>
            <a:ext cx="37490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5138928" y="2542032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413248" y="24505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DermaCare Clinic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13248" y="27249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0.4 mi · Open 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229600" y="2450592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2513137"/>
            <a:ext cx="204094" cy="204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8"/>
          <p:cNvCxnSpPr/>
          <p:nvPr/>
        </p:nvCxnSpPr>
        <p:spPr>
          <a:xfrm>
            <a:off x="5138928" y="3127248"/>
            <a:ext cx="3291840" cy="0"/>
          </a:xfrm>
          <a:prstGeom prst="straightConnector1">
            <a:avLst/>
          </a:prstGeom>
          <a:noFill/>
          <a:ln cap="flat" cmpd="sng" w="12700">
            <a:solidFill>
              <a:srgbClr val="E3DC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8"/>
          <p:cNvSpPr/>
          <p:nvPr/>
        </p:nvSpPr>
        <p:spPr>
          <a:xfrm>
            <a:off x="5138928" y="3401568"/>
            <a:ext cx="146304" cy="14630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413248" y="33101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City Skin &amp; Laser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13248" y="358444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0.9 mi · Accepting new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229600" y="3310128"/>
            <a:ext cx="329184" cy="32918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145" y="3372673"/>
            <a:ext cx="204094" cy="20409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4892040" y="3950208"/>
            <a:ext cx="3749040" cy="566928"/>
          </a:xfrm>
          <a:prstGeom prst="roundRect">
            <a:avLst>
              <a:gd fmla="val 50000" name="adj"/>
            </a:avLst>
          </a:prstGeom>
          <a:solidFill>
            <a:srgbClr val="F7E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892040" y="402336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4B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64B2C"/>
                </a:solidFill>
                <a:latin typeface="Calibri"/>
                <a:ea typeface="Calibri"/>
                <a:cs typeface="Calibri"/>
                <a:sym typeface="Calibri"/>
              </a:rPr>
              <a:t>Flagged scan? A “Consult a dermatologist” action appears right on the result.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Watch your skin change — week by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0292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0408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58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23444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5895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Every scan saved with its photo and date — see how a spot evolves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63440" y="1371600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86460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62397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539496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Treatment plans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91947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Step-by-step plans with completions and a streak counter to stay consistent.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0408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58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123444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5895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Trends across scans — severity, frequency, and progress at a glance.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663440" y="3072384"/>
            <a:ext cx="3977640" cy="1572768"/>
          </a:xfrm>
          <a:prstGeom prst="roundRect">
            <a:avLst>
              <a:gd fmla="val 6977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86460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4102" y="3324758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539496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PDF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1947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One-tap, shareable reports to hand your doctor or pharmacist.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011680" y="4526280"/>
            <a:ext cx="5120640" cy="420624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44814" y="46268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2828862" y="4590288"/>
            <a:ext cx="423608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Consistency counts — streaks keep your care on track.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02920" y="60350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Answers on demand — 60 articles, 9 topics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1417320"/>
            <a:ext cx="3383280" cy="420624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17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1097280" y="14904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Search “itchy red patch”…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02920" y="205740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BROWSE BY TOPIC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02920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02920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Acne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819656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1819656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Eczema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136392" y="2377440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136392" y="2450592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Psoriasis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02920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02920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Moles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819656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819656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Sun 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136392" y="2852928"/>
            <a:ext cx="1207008" cy="3657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BFD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136392" y="2926080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Wounds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02920" y="34564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Plain-language explanations, written with care and reviewed for safety.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617720" y="1417320"/>
            <a:ext cx="402336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864608" y="169164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102" y="1761134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5367528" y="17373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SAMPLE ARTICLE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864608" y="2212848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B2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Is that mole something to worry about?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864608" y="297180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645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Most moles are harmless. The ABCDE rule — Asymmetry, Border, Colour, Diameter, Evolving — flags features that deserve a professional look. DermoAI checks these on your scans.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864608" y="4224528"/>
            <a:ext cx="1554480" cy="274320"/>
          </a:xfrm>
          <a:prstGeom prst="roundRect">
            <a:avLst>
              <a:gd fmla="val 50000" name="adj"/>
            </a:avLst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864608" y="427024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6E5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SAFETY-REVIEWED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361688" y="914400"/>
            <a:ext cx="420624" cy="420624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607" y="99431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0" y="1600200"/>
            <a:ext cx="914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4EFE7"/>
                </a:solidFill>
                <a:latin typeface="Cambria"/>
                <a:ea typeface="Cambria"/>
                <a:cs typeface="Cambria"/>
                <a:sym typeface="Cambria"/>
              </a:rPr>
              <a:t>Your skin, understood.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AI skin analysis, safety-first guidance, and a dermatologist in your pocket.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537460" y="342900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537460" y="352958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Get DermoAI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366260" y="3429000"/>
            <a:ext cx="2240280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0"/>
            </a:srgbClr>
          </a:solidFill>
          <a:ln cap="flat" cmpd="sng" w="13950">
            <a:solidFill>
              <a:srgbClr val="C8DB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366260" y="352958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BD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DBD2"/>
                </a:solidFill>
                <a:latin typeface="Calibri"/>
                <a:ea typeface="Calibri"/>
                <a:cs typeface="Calibri"/>
                <a:sym typeface="Calibri"/>
              </a:rPr>
              <a:t>Open source on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887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F887E"/>
                </a:solidFill>
                <a:latin typeface="Calibri"/>
                <a:ea typeface="Calibri"/>
                <a:cs typeface="Calibri"/>
                <a:sym typeface="Calibri"/>
              </a:rPr>
              <a:t>DermoAI is a screening aid, not a medical device — always consult a professional for a diagnosis.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EF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FEATURE 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02920" y="603504"/>
            <a:ext cx="749808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Bridging Patients &amp; Clinicians: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The Connected Care Ecosystem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549640" y="41148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02920" y="1371600"/>
            <a:ext cx="3977640" cy="1572768"/>
          </a:xfrm>
          <a:prstGeom prst="roundRect">
            <a:avLst/>
            <a:gd fmla="val 6977" name="adj"/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04088" y="1554480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04088" y="16002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23444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Closing the Gap in Continuous Care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5895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Bi-directional ecosystem: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bridges home-based AI skin tracking with professional medical evaluation.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Beyond isolated scanning: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turns standalone self-scans into a shared, collaborative care journey.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663440" y="1371600"/>
            <a:ext cx="3977640" cy="1572768"/>
          </a:xfrm>
          <a:prstGeom prst="roundRect">
            <a:avLst/>
            <a:gd fmla="val 6977" name="adj"/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864608" y="1554480"/>
            <a:ext cx="365760" cy="365760"/>
          </a:xfrm>
          <a:prstGeom prst="ellipse">
            <a:avLst/>
          </a:prstGeom>
          <a:solidFill>
            <a:srgbClr val="202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864608" y="16002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394960" y="1572768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Frictionless &amp; Secure Pairing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919472" y="202996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Instant consultation pairing: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connect in seconds via QR codes or 8-character secure invite codes.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Patient-centric consent: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patients explicitly invite their doctor, so trust comes first.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3072384"/>
            <a:ext cx="3977640" cy="1572768"/>
          </a:xfrm>
          <a:prstGeom prst="roundRect">
            <a:avLst/>
            <a:gd fmla="val 6977" name="adj"/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04088" y="3255264"/>
            <a:ext cx="365760" cy="365760"/>
          </a:xfrm>
          <a:prstGeom prst="ellipse">
            <a:avLst/>
          </a:prstGeom>
          <a:solidFill>
            <a:srgbClr val="1E6E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704088" y="33009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23444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Value Delivered to Both Sides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5895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For patients: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peace of mind over worsening trends — without sacrificing data privacy.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For doctors: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a live, urgency-ranked dashboard of their connected patient cohort.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663440" y="3072384"/>
            <a:ext cx="3977640" cy="1572768"/>
          </a:xfrm>
          <a:prstGeom prst="roundRect">
            <a:avLst/>
            <a:gd fmla="val 6977" name="adj"/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50800">
              <a:srgbClr val="C4BAA8">
                <a:alpha val="3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864608" y="3255264"/>
            <a:ext cx="365760" cy="365760"/>
          </a:xfrm>
          <a:prstGeom prst="ellipse">
            <a:avLst/>
          </a:prstGeom>
          <a:solidFill>
            <a:srgbClr val="202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864608" y="33009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4EFE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394960" y="32735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02B26"/>
                </a:solidFill>
                <a:latin typeface="Cambria"/>
                <a:ea typeface="Cambria"/>
                <a:cs typeface="Cambria"/>
                <a:sym typeface="Cambria"/>
              </a:rPr>
              <a:t>Remote Continuity &amp; Tracking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919472" y="3730752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Between-visit monitoring: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track adherence and progression — improving vs. worsening.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02B26"/>
                </a:solidFill>
                <a:latin typeface="Calibri"/>
                <a:ea typeface="Calibri"/>
                <a:cs typeface="Calibri"/>
                <a:sym typeface="Calibri"/>
              </a:rPr>
              <a:t>1-tap patient control: </a:t>
            </a:r>
            <a:r>
              <a:rPr b="0" i="0" lang="en-US" sz="1050" u="none" cap="none" strike="noStrike">
                <a:solidFill>
                  <a:srgbClr val="55645C"/>
                </a:solidFill>
                <a:latin typeface="Calibri"/>
                <a:ea typeface="Calibri"/>
                <a:cs typeface="Calibri"/>
                <a:sym typeface="Calibri"/>
              </a:rPr>
              <a:t>grant access, view the audit trail, or revoke instantly.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011680" y="4526280"/>
            <a:ext cx="5120640" cy="420624"/>
          </a:xfrm>
          <a:prstGeom prst="roundRect">
            <a:avLst/>
            <a:gd fmla="val 50000" name="adj"/>
          </a:prstGeom>
          <a:solidFill>
            <a:srgbClr val="D9ED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116800" y="4581144"/>
            <a:ext cx="4900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E6E5C"/>
                </a:solidFill>
                <a:latin typeface="Calibri"/>
                <a:ea typeface="Calibri"/>
                <a:cs typeface="Calibri"/>
                <a:sym typeface="Calibri"/>
              </a:rPr>
              <a:t>Consent at the center — patients stay in control.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